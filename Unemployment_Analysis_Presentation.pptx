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charts/chart1.xml" ContentType="application/vnd.openxmlformats-officedocument.drawingml.chart+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Unemployment Rate (relative)</c:v>
                </c:pt>
              </c:strCache>
            </c:strRef>
          </c:tx>
          <c:spPr>
            <a:solidFill>
              <a:srgbClr val="C0392B"/>
            </a:solidFill>
            <a:ln w="38100" cap="flat">
              <a:solidFill>
                <a:srgbClr val="C0392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C0392B"/>
              </a:solidFill>
              <a:ln w="9525" cap="flat">
                <a:solidFill>
                  <a:srgbClr val="C0392B"/>
                </a:solidFill>
                <a:prstDash val="solid"/>
                <a:round/>
              </a:ln>
              <a:effectLst/>
            </c:spPr>
          </c:marker>
          <c:cat>
            <c:multiLvlStrRef>
              <c:f>Sheet1!$A$2:$A$6</c:f>
              <c:multiLvlStrCache>
                <c:ptCount val="5"/>
                <c:lvl>
                  <c:pt idx="0">
                    <c:v>Pre-Lockdown</c:v>
                  </c:pt>
                  <c:pt idx="1">
                    <c:v>Mar '20</c:v>
                  </c:pt>
                  <c:pt idx="2">
                    <c:v>Apr–May '20
(Peak)</c:v>
                  </c:pt>
                  <c:pt idx="3">
                    <c:v>Post-Peak</c:v>
                  </c:pt>
                  <c:pt idx="4">
                    <c:v>Recovery</c:v>
                  </c:pt>
                </c:lvl>
              </c:multiLvlStrCache>
            </c:multiLvlStrRef>
          </c:cat>
          <c:val>
            <c:numRef>
              <c:f>Sheet1!$B$2:$B$6</c:f>
              <c:numCache>
                <c:formatCode>General</c:formatCode>
                <c:ptCount val="5"/>
                <c:pt idx="0">
                  <c:v>2</c:v>
                </c:pt>
                <c:pt idx="1">
                  <c:v>2.5</c:v>
                </c:pt>
                <c:pt idx="2">
                  <c:v>9.5</c:v>
                </c:pt>
                <c:pt idx="3">
                  <c:v>5.5</c:v>
                </c:pt>
                <c:pt idx="4">
                  <c:v>3</c:v>
                </c:pt>
              </c:numCache>
            </c:numRef>
          </c:val>
          <c:smooth val="1"/>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D6DFEA"/>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project looks at regional unemployment data to understand two things: how workforce participation normally moves over time, and how sharply the COVID-19 lockdowns disrupted it. I worked with region, date, unemployment rate, employed workforce, and labour participation data to build that picture. The chart on the right is just a conceptual sketch of the kind of shock pattern I set out to measure precisely.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toolkit here is deliberately lean. Pandas and NumPy do the heavy lifting on cleaning and transforming the raw records, while Matplotlib and Seaborn produce the time-series plots, bar charts, and heatmaps I used to compare regions. I worked in Colab and VS Code, and used GitHub throughout for version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workflow moved through five stages, in order. I started by loading and inspecting the raw CSV and auditing it for nulls, then cleaned up whitespace and inconsistent dates before doing any real analysis. From there I computed core statistics per region, isolated the pre, peak, and post-lockdown windows, and finished by building the bar charts, line graphs, and heatmaps that let me compare regions side by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specific issues slowed me down early on. Hidden whitespace in the column headers kept throwing KeyErrors until I stripped it programmatically. Inconsistent date strings meant my charts weren't plotting in the right order, so I converted everything into proper datetime objects. And because the lockdown spike was so extreme, it flattened out the normal trends on a shared chart, so I split the analysis into segmented pre- and post-crisis subplots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headline finding is that unemployment spiked sharply across almost every region during the peak lockdown months of April and May 2020. Urban labor markets were hit faster because of service-sector shutdowns, while rural areas held up a little better. But recovery wasn't uniform — some regions bounced back quickly, while others stayed under pressure for much longer, which tells us regional resilience mattered just as much as the size of the initial shock.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2B45"/>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320040"/>
          </a:xfrm>
          <a:prstGeom prst="rect">
            <a:avLst/>
          </a:prstGeom>
          <a:noFill/>
          <a:ln/>
        </p:spPr>
        <p:txBody>
          <a:bodyPr wrap="square" lIns="0" tIns="0" rIns="0" bIns="0" rtlCol="0" anchor="ctr"/>
          <a:lstStyle/>
          <a:p>
            <a:pPr indent="0" marL="0">
              <a:buNone/>
            </a:pPr>
            <a:r>
              <a:rPr lang="en-US" sz="1100" b="1" spc="200" kern="0" dirty="0">
                <a:solidFill>
                  <a:srgbClr val="D98E2B"/>
                </a:solidFill>
                <a:latin typeface="Calibri" pitchFamily="34" charset="0"/>
                <a:ea typeface="Calibri" pitchFamily="34" charset="-122"/>
                <a:cs typeface="Calibri" pitchFamily="34" charset="-120"/>
              </a:rPr>
              <a:t>EXPS NEXUS VIRTUAL INTERNSHIP  ·  DATA SCIENCE INTERN</a:t>
            </a:r>
            <a:endParaRPr lang="en-US" sz="1100" dirty="0"/>
          </a:p>
        </p:txBody>
      </p:sp>
      <p:sp>
        <p:nvSpPr>
          <p:cNvPr id="3" name="Text 1"/>
          <p:cNvSpPr txBox="1"/>
          <p:nvPr/>
        </p:nvSpPr>
        <p:spPr>
          <a:xfrm>
            <a:off x="548640" y="868680"/>
            <a:ext cx="6675120" cy="1463040"/>
          </a:xfrm>
          <a:prstGeom prst="rect">
            <a:avLst/>
          </a:prstGeom>
          <a:noFill/>
          <a:ln/>
        </p:spPr>
        <p:txBody>
          <a:bodyPr wrap="square" lIns="0" tIns="0" rIns="0" bIns="0" rtlCol="0" anchor="ctr"/>
          <a:lstStyle/>
          <a:p>
            <a:pPr indent="0" marL="0">
              <a:lnSpc>
                <a:spcPct val="105000"/>
              </a:lnSpc>
              <a:buNone/>
            </a:pPr>
            <a:r>
              <a:rPr lang="en-US" sz="3600" b="1" dirty="0">
                <a:solidFill>
                  <a:srgbClr val="FFFFFF"/>
                </a:solidFill>
                <a:latin typeface="Cambria" pitchFamily="34" charset="0"/>
                <a:ea typeface="Cambria" pitchFamily="34" charset="-122"/>
                <a:cs typeface="Cambria" pitchFamily="34" charset="-120"/>
              </a:rPr>
              <a:t>Unemployment Analysis</a:t>
            </a:r>
            <a:endParaRPr lang="en-US" sz="3600" dirty="0"/>
          </a:p>
          <a:p>
            <a:pPr indent="0" marL="0">
              <a:lnSpc>
                <a:spcPct val="105000"/>
              </a:lnSpc>
              <a:buNone/>
            </a:pPr>
            <a:r>
              <a:rPr lang="en-US" sz="3600" b="1" dirty="0">
                <a:solidFill>
                  <a:srgbClr val="FFFFFF"/>
                </a:solidFill>
                <a:latin typeface="Cambria" pitchFamily="34" charset="0"/>
                <a:ea typeface="Cambria" pitchFamily="34" charset="-122"/>
                <a:cs typeface="Cambria" pitchFamily="34" charset="-120"/>
              </a:rPr>
              <a:t>with Python</a:t>
            </a:r>
            <a:endParaRPr lang="en-US" sz="3600" dirty="0"/>
          </a:p>
        </p:txBody>
      </p:sp>
      <p:sp>
        <p:nvSpPr>
          <p:cNvPr id="4" name="Text 2"/>
          <p:cNvSpPr txBox="1"/>
          <p:nvPr/>
        </p:nvSpPr>
        <p:spPr>
          <a:xfrm>
            <a:off x="548640" y="2331720"/>
            <a:ext cx="6309360" cy="685800"/>
          </a:xfrm>
          <a:prstGeom prst="rect">
            <a:avLst/>
          </a:prstGeom>
          <a:noFill/>
          <a:ln/>
        </p:spPr>
        <p:txBody>
          <a:bodyPr wrap="square" lIns="0" tIns="0" rIns="0" bIns="0" rtlCol="0" anchor="ctr"/>
          <a:lstStyle/>
          <a:p>
            <a:pPr indent="0" marL="0">
              <a:buNone/>
            </a:pPr>
            <a:r>
              <a:rPr lang="en-US" sz="1500" i="1" dirty="0">
                <a:solidFill>
                  <a:srgbClr val="D6DFEA"/>
                </a:solidFill>
                <a:latin typeface="Calibri" pitchFamily="34" charset="0"/>
                <a:ea typeface="Calibri" pitchFamily="34" charset="-122"/>
                <a:cs typeface="Calibri" pitchFamily="34" charset="-120"/>
              </a:rPr>
              <a:t>Reading regional unemployment data over time to understand the real, measurable shock of the COVID-19 lockdowns.</a:t>
            </a:r>
            <a:endParaRPr lang="en-US" sz="1500" dirty="0"/>
          </a:p>
        </p:txBody>
      </p:sp>
      <p:sp>
        <p:nvSpPr>
          <p:cNvPr id="5" name="Shape 3"/>
          <p:cNvSpPr/>
          <p:nvPr/>
        </p:nvSpPr>
        <p:spPr>
          <a:xfrm>
            <a:off x="548640" y="3273552"/>
            <a:ext cx="256032" cy="256032"/>
          </a:xfrm>
          <a:prstGeom prst="ellipse">
            <a:avLst/>
          </a:prstGeom>
          <a:solidFill>
            <a:srgbClr val="D98E2B"/>
          </a:solidFill>
          <a:ln w="12700">
            <a:solidFill>
              <a:srgbClr val="D98E2B"/>
            </a:solidFill>
            <a:prstDash val="solid"/>
          </a:ln>
        </p:spPr>
      </p:sp>
      <p:sp>
        <p:nvSpPr>
          <p:cNvPr id="6" name="Text 4"/>
          <p:cNvSpPr txBox="1"/>
          <p:nvPr/>
        </p:nvSpPr>
        <p:spPr>
          <a:xfrm>
            <a:off x="548640" y="3273552"/>
            <a:ext cx="256032" cy="2560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7" name="Text 5"/>
          <p:cNvSpPr txBox="1"/>
          <p:nvPr/>
        </p:nvSpPr>
        <p:spPr>
          <a:xfrm>
            <a:off x="960120" y="3154680"/>
            <a:ext cx="5943600" cy="685800"/>
          </a:xfrm>
          <a:prstGeom prst="rect">
            <a:avLst/>
          </a:prstGeom>
          <a:noFill/>
          <a:ln/>
        </p:spPr>
        <p:txBody>
          <a:bodyPr wrap="square" lIns="0" tIns="0" rIns="0" bIns="0" rtlCol="0" anchor="t"/>
          <a:lstStyle/>
          <a:p>
            <a:pPr indent="0" marL="0">
              <a:buNone/>
            </a:pPr>
            <a:r>
              <a:rPr lang="en-US" sz="1350" b="1" dirty="0">
                <a:solidFill>
                  <a:srgbClr val="FFFFFF"/>
                </a:solidFill>
                <a:latin typeface="Calibri" pitchFamily="34" charset="0"/>
                <a:ea typeface="Calibri" pitchFamily="34" charset="-122"/>
                <a:cs typeface="Calibri" pitchFamily="34" charset="-120"/>
              </a:rPr>
              <a:t>Core objective  </a:t>
            </a:r>
            <a:pPr indent="0" marL="0">
              <a:buNone/>
            </a:pPr>
            <a:r>
              <a:rPr lang="en-US" sz="1350" dirty="0">
                <a:solidFill>
                  <a:srgbClr val="D6DFEA"/>
                </a:solidFill>
                <a:latin typeface="Calibri" pitchFamily="34" charset="0"/>
                <a:ea typeface="Calibri" pitchFamily="34" charset="-122"/>
                <a:cs typeface="Calibri" pitchFamily="34" charset="-120"/>
              </a:rPr>
              <a:t>Understand how workforce and unemployment rates fluctuate over time, region by region.</a:t>
            </a:r>
            <a:endParaRPr lang="en-US" sz="1350" dirty="0"/>
          </a:p>
        </p:txBody>
      </p:sp>
      <p:sp>
        <p:nvSpPr>
          <p:cNvPr id="8" name="Shape 6"/>
          <p:cNvSpPr/>
          <p:nvPr/>
        </p:nvSpPr>
        <p:spPr>
          <a:xfrm>
            <a:off x="548640" y="4023360"/>
            <a:ext cx="256032" cy="256032"/>
          </a:xfrm>
          <a:prstGeom prst="ellipse">
            <a:avLst/>
          </a:prstGeom>
          <a:solidFill>
            <a:srgbClr val="D98E2B"/>
          </a:solidFill>
          <a:ln w="12700">
            <a:solidFill>
              <a:srgbClr val="D98E2B"/>
            </a:solidFill>
            <a:prstDash val="solid"/>
          </a:ln>
        </p:spPr>
      </p:sp>
      <p:sp>
        <p:nvSpPr>
          <p:cNvPr id="9" name="Text 7"/>
          <p:cNvSpPr txBox="1"/>
          <p:nvPr/>
        </p:nvSpPr>
        <p:spPr>
          <a:xfrm>
            <a:off x="548640" y="4023360"/>
            <a:ext cx="256032" cy="2560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0" name="Text 8"/>
          <p:cNvSpPr txBox="1"/>
          <p:nvPr/>
        </p:nvSpPr>
        <p:spPr>
          <a:xfrm>
            <a:off x="960120" y="3904488"/>
            <a:ext cx="5943600" cy="685800"/>
          </a:xfrm>
          <a:prstGeom prst="rect">
            <a:avLst/>
          </a:prstGeom>
          <a:noFill/>
          <a:ln/>
        </p:spPr>
        <p:txBody>
          <a:bodyPr wrap="square" lIns="0" tIns="0" rIns="0" bIns="0" rtlCol="0" anchor="t"/>
          <a:lstStyle/>
          <a:p>
            <a:pPr indent="0" marL="0">
              <a:buNone/>
            </a:pPr>
            <a:r>
              <a:rPr lang="en-US" sz="1350" b="1" dirty="0">
                <a:solidFill>
                  <a:srgbClr val="FFFFFF"/>
                </a:solidFill>
                <a:latin typeface="Calibri" pitchFamily="34" charset="0"/>
                <a:ea typeface="Calibri" pitchFamily="34" charset="-122"/>
                <a:cs typeface="Calibri" pitchFamily="34" charset="-120"/>
              </a:rPr>
              <a:t>Economic context  </a:t>
            </a:r>
            <a:pPr indent="0" marL="0">
              <a:buNone/>
            </a:pPr>
            <a:r>
              <a:rPr lang="en-US" sz="1350" dirty="0">
                <a:solidFill>
                  <a:srgbClr val="D6DFEA"/>
                </a:solidFill>
                <a:latin typeface="Calibri" pitchFamily="34" charset="0"/>
                <a:ea typeface="Calibri" pitchFamily="34" charset="-122"/>
                <a:cs typeface="Calibri" pitchFamily="34" charset="-120"/>
              </a:rPr>
              <a:t>Measure the sharp, sudden impact of crisis lockdowns like COVID-19 on employment.</a:t>
            </a:r>
            <a:endParaRPr lang="en-US" sz="1350" dirty="0"/>
          </a:p>
        </p:txBody>
      </p:sp>
      <p:sp>
        <p:nvSpPr>
          <p:cNvPr id="11" name="Shape 9"/>
          <p:cNvSpPr/>
          <p:nvPr/>
        </p:nvSpPr>
        <p:spPr>
          <a:xfrm>
            <a:off x="548640" y="4773168"/>
            <a:ext cx="256032" cy="256032"/>
          </a:xfrm>
          <a:prstGeom prst="ellipse">
            <a:avLst/>
          </a:prstGeom>
          <a:solidFill>
            <a:srgbClr val="D98E2B"/>
          </a:solidFill>
          <a:ln w="12700">
            <a:solidFill>
              <a:srgbClr val="D98E2B"/>
            </a:solidFill>
            <a:prstDash val="solid"/>
          </a:ln>
        </p:spPr>
      </p:sp>
      <p:sp>
        <p:nvSpPr>
          <p:cNvPr id="12" name="Text 10"/>
          <p:cNvSpPr txBox="1"/>
          <p:nvPr/>
        </p:nvSpPr>
        <p:spPr>
          <a:xfrm>
            <a:off x="548640" y="4773168"/>
            <a:ext cx="256032" cy="2560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3" name="Text 11"/>
          <p:cNvSpPr txBox="1"/>
          <p:nvPr/>
        </p:nvSpPr>
        <p:spPr>
          <a:xfrm>
            <a:off x="960120" y="4654296"/>
            <a:ext cx="5943600" cy="685800"/>
          </a:xfrm>
          <a:prstGeom prst="rect">
            <a:avLst/>
          </a:prstGeom>
          <a:noFill/>
          <a:ln/>
        </p:spPr>
        <p:txBody>
          <a:bodyPr wrap="square" lIns="0" tIns="0" rIns="0" bIns="0" rtlCol="0" anchor="t"/>
          <a:lstStyle/>
          <a:p>
            <a:pPr indent="0" marL="0">
              <a:buNone/>
            </a:pPr>
            <a:r>
              <a:rPr lang="en-US" sz="1350" b="1" dirty="0">
                <a:solidFill>
                  <a:srgbClr val="FFFFFF"/>
                </a:solidFill>
                <a:latin typeface="Calibri" pitchFamily="34" charset="0"/>
                <a:ea typeface="Calibri" pitchFamily="34" charset="-122"/>
                <a:cs typeface="Calibri" pitchFamily="34" charset="-120"/>
              </a:rPr>
              <a:t>Dataset  </a:t>
            </a:r>
            <a:pPr indent="0" marL="0">
              <a:buNone/>
            </a:pPr>
            <a:r>
              <a:rPr lang="en-US" sz="1350" dirty="0">
                <a:solidFill>
                  <a:srgbClr val="D6DFEA"/>
                </a:solidFill>
                <a:latin typeface="Calibri" pitchFamily="34" charset="0"/>
                <a:ea typeface="Calibri" pitchFamily="34" charset="-122"/>
                <a:cs typeface="Calibri" pitchFamily="34" charset="-120"/>
              </a:rPr>
              <a:t>Region/state, date, unemployment rate, employed workforce, and labour participation rate.</a:t>
            </a:r>
            <a:endParaRPr lang="en-US" sz="1350" dirty="0"/>
          </a:p>
        </p:txBody>
      </p:sp>
      <p:sp>
        <p:nvSpPr>
          <p:cNvPr id="14" name="Shape 12"/>
          <p:cNvSpPr/>
          <p:nvPr/>
        </p:nvSpPr>
        <p:spPr>
          <a:xfrm>
            <a:off x="548640" y="5522976"/>
            <a:ext cx="256032" cy="256032"/>
          </a:xfrm>
          <a:prstGeom prst="ellipse">
            <a:avLst/>
          </a:prstGeom>
          <a:solidFill>
            <a:srgbClr val="D98E2B"/>
          </a:solidFill>
          <a:ln w="12700">
            <a:solidFill>
              <a:srgbClr val="D98E2B"/>
            </a:solidFill>
            <a:prstDash val="solid"/>
          </a:ln>
        </p:spPr>
      </p:sp>
      <p:sp>
        <p:nvSpPr>
          <p:cNvPr id="15" name="Text 13"/>
          <p:cNvSpPr txBox="1"/>
          <p:nvPr/>
        </p:nvSpPr>
        <p:spPr>
          <a:xfrm>
            <a:off x="548640" y="5522976"/>
            <a:ext cx="256032" cy="2560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6" name="Text 14"/>
          <p:cNvSpPr txBox="1"/>
          <p:nvPr/>
        </p:nvSpPr>
        <p:spPr>
          <a:xfrm>
            <a:off x="960120" y="5404104"/>
            <a:ext cx="5943600" cy="685800"/>
          </a:xfrm>
          <a:prstGeom prst="rect">
            <a:avLst/>
          </a:prstGeom>
          <a:noFill/>
          <a:ln/>
        </p:spPr>
        <p:txBody>
          <a:bodyPr wrap="square" lIns="0" tIns="0" rIns="0" bIns="0" rtlCol="0" anchor="t"/>
          <a:lstStyle/>
          <a:p>
            <a:pPr indent="0" marL="0">
              <a:buNone/>
            </a:pPr>
            <a:r>
              <a:rPr lang="en-US" sz="1350" b="1" dirty="0">
                <a:solidFill>
                  <a:srgbClr val="FFFFFF"/>
                </a:solidFill>
                <a:latin typeface="Calibri" pitchFamily="34" charset="0"/>
                <a:ea typeface="Calibri" pitchFamily="34" charset="-122"/>
                <a:cs typeface="Calibri" pitchFamily="34" charset="-120"/>
              </a:rPr>
              <a:t>Approach  </a:t>
            </a:r>
            <a:pPr indent="0" marL="0">
              <a:buNone/>
            </a:pPr>
            <a:r>
              <a:rPr lang="en-US" sz="1350" dirty="0">
                <a:solidFill>
                  <a:srgbClr val="D6DFEA"/>
                </a:solidFill>
                <a:latin typeface="Calibri" pitchFamily="34" charset="0"/>
                <a:ea typeface="Calibri" pitchFamily="34" charset="-122"/>
                <a:cs typeface="Calibri" pitchFamily="34" charset="-120"/>
              </a:rPr>
              <a:t>Combine time-series trends with regional comparisons to separate shock from recovery.</a:t>
            </a:r>
            <a:endParaRPr lang="en-US" sz="1350" dirty="0"/>
          </a:p>
        </p:txBody>
      </p:sp>
      <p:sp>
        <p:nvSpPr>
          <p:cNvPr id="17" name="Text 15"/>
          <p:cNvSpPr txBox="1"/>
          <p:nvPr/>
        </p:nvSpPr>
        <p:spPr>
          <a:xfrm>
            <a:off x="7178040" y="2606040"/>
            <a:ext cx="448056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The Shape of the Shock (Illustrative)</a:t>
            </a:r>
            <a:endParaRPr lang="en-US" sz="1300" dirty="0"/>
          </a:p>
        </p:txBody>
      </p:sp>
      <p:graphicFrame>
        <p:nvGraphicFramePr>
          <p:cNvPr id="18" name="Chart 0" descr=""/>
          <p:cNvGraphicFramePr/>
          <p:nvPr/>
        </p:nvGraphicFramePr>
        <p:xfrm>
          <a:off x="6949440" y="3017520"/>
          <a:ext cx="4937760" cy="3063240"/>
        </p:xfrm>
        <a:graphic xmlns:a="http://schemas.openxmlformats.org/drawingml/2006/main">
          <a:graphicData uri="http://schemas.openxmlformats.org/drawingml/2006/chart">
            <c:chart xmlns:c="http://schemas.openxmlformats.org/drawingml/2006/chart" r:id="rId1"/>
          </a:graphicData>
        </a:graphic>
      </p:graphicFrame>
      <p:sp>
        <p:nvSpPr>
          <p:cNvPr id="19" name="Text 16"/>
          <p:cNvSpPr txBox="1"/>
          <p:nvPr/>
        </p:nvSpPr>
        <p:spPr>
          <a:xfrm>
            <a:off x="6949440" y="6172200"/>
            <a:ext cx="4937760" cy="457200"/>
          </a:xfrm>
          <a:prstGeom prst="rect">
            <a:avLst/>
          </a:prstGeom>
          <a:noFill/>
          <a:ln/>
        </p:spPr>
        <p:txBody>
          <a:bodyPr wrap="square" lIns="0" tIns="0" rIns="0" bIns="0" rtlCol="0" anchor="ctr"/>
          <a:lstStyle/>
          <a:p>
            <a:pPr indent="0" marL="0">
              <a:buNone/>
            </a:pPr>
            <a:r>
              <a:rPr lang="en-US" sz="950" i="1" dirty="0">
                <a:solidFill>
                  <a:srgbClr val="D6DFEA"/>
                </a:solidFill>
                <a:latin typeface="Calibri" pitchFamily="34" charset="0"/>
                <a:ea typeface="Calibri" pitchFamily="34" charset="-122"/>
                <a:cs typeface="Calibri" pitchFamily="34" charset="-120"/>
              </a:rPr>
              <a:t>Conceptual pattern only — illustrates the shape of the lockdown shock the analysis investigates.</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EF2F7"/>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320040"/>
          </a:xfrm>
          <a:prstGeom prst="rect">
            <a:avLst/>
          </a:prstGeom>
          <a:noFill/>
          <a:ln/>
        </p:spPr>
        <p:txBody>
          <a:bodyPr wrap="square" lIns="0" tIns="0" rIns="0" bIns="0" rtlCol="0" anchor="ctr"/>
          <a:lstStyle/>
          <a:p>
            <a:pPr indent="0" marL="0">
              <a:buNone/>
            </a:pPr>
            <a:r>
              <a:rPr lang="en-US" sz="1100" b="1" spc="200" kern="0" dirty="0">
                <a:solidFill>
                  <a:srgbClr val="D98E2B"/>
                </a:solidFill>
                <a:latin typeface="Calibri" pitchFamily="34" charset="0"/>
                <a:ea typeface="Calibri" pitchFamily="34" charset="-122"/>
                <a:cs typeface="Calibri" pitchFamily="34" charset="-120"/>
              </a:rPr>
              <a:t>TECH STACK</a:t>
            </a:r>
            <a:endParaRPr lang="en-US" sz="1100" dirty="0"/>
          </a:p>
        </p:txBody>
      </p:sp>
      <p:sp>
        <p:nvSpPr>
          <p:cNvPr id="3" name="Text 1"/>
          <p:cNvSpPr txBox="1"/>
          <p:nvPr/>
        </p:nvSpPr>
        <p:spPr>
          <a:xfrm>
            <a:off x="548640" y="685800"/>
            <a:ext cx="9144000" cy="640080"/>
          </a:xfrm>
          <a:prstGeom prst="rect">
            <a:avLst/>
          </a:prstGeom>
          <a:noFill/>
          <a:ln/>
        </p:spPr>
        <p:txBody>
          <a:bodyPr wrap="square" lIns="0" tIns="0" rIns="0" bIns="0" rtlCol="0" anchor="ctr"/>
          <a:lstStyle/>
          <a:p>
            <a:pPr indent="0" marL="0">
              <a:buNone/>
            </a:pPr>
            <a:r>
              <a:rPr lang="en-US" sz="3200" b="1" dirty="0">
                <a:solidFill>
                  <a:srgbClr val="1C2B45"/>
                </a:solidFill>
                <a:latin typeface="Cambria" pitchFamily="34" charset="0"/>
                <a:ea typeface="Cambria" pitchFamily="34" charset="-122"/>
                <a:cs typeface="Cambria" pitchFamily="34" charset="-120"/>
              </a:rPr>
              <a:t>Technologies &amp; Tools Used</a:t>
            </a:r>
            <a:endParaRPr lang="en-US" sz="3200" dirty="0"/>
          </a:p>
        </p:txBody>
      </p:sp>
      <p:sp>
        <p:nvSpPr>
          <p:cNvPr id="4" name="Text 2"/>
          <p:cNvSpPr txBox="1"/>
          <p:nvPr/>
        </p:nvSpPr>
        <p:spPr>
          <a:xfrm>
            <a:off x="548640" y="1234440"/>
            <a:ext cx="9601200" cy="457200"/>
          </a:xfrm>
          <a:prstGeom prst="rect">
            <a:avLst/>
          </a:prstGeom>
          <a:noFill/>
          <a:ln/>
        </p:spPr>
        <p:txBody>
          <a:bodyPr wrap="square" lIns="0" tIns="0" rIns="0" bIns="0" rtlCol="0" anchor="ctr"/>
          <a:lstStyle/>
          <a:p>
            <a:pPr indent="0" marL="0">
              <a:buNone/>
            </a:pPr>
            <a:r>
              <a:rPr lang="en-US" sz="1450" i="1" dirty="0">
                <a:solidFill>
                  <a:srgbClr val="62718A"/>
                </a:solidFill>
                <a:latin typeface="Calibri" pitchFamily="34" charset="0"/>
                <a:ea typeface="Calibri" pitchFamily="34" charset="-122"/>
                <a:cs typeface="Calibri" pitchFamily="34" charset="-120"/>
              </a:rPr>
              <a:t>A focused Python toolkit for cleaning, analyzing, and visualizing time-series economic data.</a:t>
            </a:r>
            <a:endParaRPr lang="en-US" sz="1450" dirty="0"/>
          </a:p>
        </p:txBody>
      </p:sp>
      <p:sp>
        <p:nvSpPr>
          <p:cNvPr id="5" name="Shape 3"/>
          <p:cNvSpPr/>
          <p:nvPr/>
        </p:nvSpPr>
        <p:spPr>
          <a:xfrm>
            <a:off x="548640" y="2011680"/>
            <a:ext cx="5349240" cy="1417320"/>
          </a:xfrm>
          <a:prstGeom prst="roundRect">
            <a:avLst>
              <a:gd name="adj" fmla="val 5806"/>
            </a:avLst>
          </a:prstGeom>
          <a:solidFill>
            <a:srgbClr val="FFFFFF"/>
          </a:solidFill>
          <a:ln w="12700">
            <a:solidFill>
              <a:srgbClr val="D6DFEA"/>
            </a:solidFill>
            <a:prstDash val="solid"/>
          </a:ln>
          <a:effectLst>
            <a:outerShdw sx="100000" sy="100000" kx="0" ky="0" algn="bl" rotWithShape="0" blurRad="63500" dist="25400" dir="5400000">
              <a:srgbClr val="1C2B45">
                <a:alpha val="10000"/>
              </a:srgbClr>
            </a:outerShdw>
          </a:effectLst>
        </p:spPr>
      </p:sp>
      <p:sp>
        <p:nvSpPr>
          <p:cNvPr id="6" name="Shape 4"/>
          <p:cNvSpPr/>
          <p:nvPr/>
        </p:nvSpPr>
        <p:spPr>
          <a:xfrm>
            <a:off x="777240" y="2409444"/>
            <a:ext cx="621792" cy="621792"/>
          </a:xfrm>
          <a:prstGeom prst="ellipse">
            <a:avLst/>
          </a:prstGeom>
          <a:solidFill>
            <a:srgbClr val="1C2B45"/>
          </a:solidFill>
          <a:ln w="12700">
            <a:solidFill>
              <a:srgbClr val="1C2B45"/>
            </a:solidFill>
            <a:prstDash val="solid"/>
          </a:ln>
        </p:spPr>
      </p:sp>
      <p:sp>
        <p:nvSpPr>
          <p:cNvPr id="7" name="Text 5"/>
          <p:cNvSpPr txBox="1"/>
          <p:nvPr/>
        </p:nvSpPr>
        <p:spPr>
          <a:xfrm>
            <a:off x="777240" y="2409444"/>
            <a:ext cx="621792" cy="62179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Py</a:t>
            </a:r>
            <a:endParaRPr lang="en-US" sz="1400" dirty="0"/>
          </a:p>
        </p:txBody>
      </p:sp>
      <p:sp>
        <p:nvSpPr>
          <p:cNvPr id="8" name="Text 6"/>
          <p:cNvSpPr txBox="1"/>
          <p:nvPr/>
        </p:nvSpPr>
        <p:spPr>
          <a:xfrm>
            <a:off x="1554480" y="2194560"/>
            <a:ext cx="4114800" cy="365760"/>
          </a:xfrm>
          <a:prstGeom prst="rect">
            <a:avLst/>
          </a:prstGeom>
          <a:noFill/>
          <a:ln/>
        </p:spPr>
        <p:txBody>
          <a:bodyPr wrap="square" lIns="0" tIns="0" rIns="0" bIns="0" rtlCol="0" anchor="ctr"/>
          <a:lstStyle/>
          <a:p>
            <a:pPr indent="0" marL="0">
              <a:buNone/>
            </a:pPr>
            <a:r>
              <a:rPr lang="en-US" sz="1500" b="1" dirty="0">
                <a:solidFill>
                  <a:srgbClr val="1C2B45"/>
                </a:solidFill>
                <a:latin typeface="Calibri" pitchFamily="34" charset="0"/>
                <a:ea typeface="Calibri" pitchFamily="34" charset="-122"/>
                <a:cs typeface="Calibri" pitchFamily="34" charset="-120"/>
              </a:rPr>
              <a:t>Python</a:t>
            </a:r>
            <a:endParaRPr lang="en-US" sz="1500" dirty="0"/>
          </a:p>
        </p:txBody>
      </p:sp>
      <p:sp>
        <p:nvSpPr>
          <p:cNvPr id="9" name="Text 7"/>
          <p:cNvSpPr txBox="1"/>
          <p:nvPr/>
        </p:nvSpPr>
        <p:spPr>
          <a:xfrm>
            <a:off x="1554480" y="2633472"/>
            <a:ext cx="4114800" cy="640080"/>
          </a:xfrm>
          <a:prstGeom prst="rect">
            <a:avLst/>
          </a:prstGeom>
          <a:noFill/>
          <a:ln/>
        </p:spPr>
        <p:txBody>
          <a:bodyPr wrap="square" lIns="0" tIns="0" rIns="0" bIns="0" rtlCol="0" anchor="t"/>
          <a:lstStyle/>
          <a:p>
            <a:pPr indent="0" marL="0">
              <a:buNone/>
            </a:pPr>
            <a:r>
              <a:rPr lang="en-US" sz="1150" dirty="0">
                <a:solidFill>
                  <a:srgbClr val="62718A"/>
                </a:solidFill>
                <a:latin typeface="Calibri" pitchFamily="34" charset="0"/>
                <a:ea typeface="Calibri" pitchFamily="34" charset="-122"/>
                <a:cs typeface="Calibri" pitchFamily="34" charset="-120"/>
              </a:rPr>
              <a:t>Core programming language for the entire analysis</a:t>
            </a:r>
            <a:endParaRPr lang="en-US" sz="1150" dirty="0"/>
          </a:p>
        </p:txBody>
      </p:sp>
      <p:sp>
        <p:nvSpPr>
          <p:cNvPr id="10" name="Shape 8"/>
          <p:cNvSpPr/>
          <p:nvPr/>
        </p:nvSpPr>
        <p:spPr>
          <a:xfrm>
            <a:off x="6172200" y="2011680"/>
            <a:ext cx="5349240" cy="1417320"/>
          </a:xfrm>
          <a:prstGeom prst="roundRect">
            <a:avLst>
              <a:gd name="adj" fmla="val 5806"/>
            </a:avLst>
          </a:prstGeom>
          <a:solidFill>
            <a:srgbClr val="FFFFFF"/>
          </a:solidFill>
          <a:ln w="12700">
            <a:solidFill>
              <a:srgbClr val="D6DFEA"/>
            </a:solidFill>
            <a:prstDash val="solid"/>
          </a:ln>
          <a:effectLst>
            <a:outerShdw sx="100000" sy="100000" kx="0" ky="0" algn="bl" rotWithShape="0" blurRad="63500" dist="25400" dir="5400000">
              <a:srgbClr val="1C2B45">
                <a:alpha val="10000"/>
              </a:srgbClr>
            </a:outerShdw>
          </a:effectLst>
        </p:spPr>
      </p:sp>
      <p:sp>
        <p:nvSpPr>
          <p:cNvPr id="11" name="Shape 9"/>
          <p:cNvSpPr/>
          <p:nvPr/>
        </p:nvSpPr>
        <p:spPr>
          <a:xfrm>
            <a:off x="6400800" y="2409444"/>
            <a:ext cx="621792" cy="621792"/>
          </a:xfrm>
          <a:prstGeom prst="ellipse">
            <a:avLst/>
          </a:prstGeom>
          <a:solidFill>
            <a:srgbClr val="1B998B"/>
          </a:solidFill>
          <a:ln w="12700">
            <a:solidFill>
              <a:srgbClr val="1B998B"/>
            </a:solidFill>
            <a:prstDash val="solid"/>
          </a:ln>
        </p:spPr>
      </p:sp>
      <p:sp>
        <p:nvSpPr>
          <p:cNvPr id="12" name="Text 10"/>
          <p:cNvSpPr txBox="1"/>
          <p:nvPr/>
        </p:nvSpPr>
        <p:spPr>
          <a:xfrm>
            <a:off x="6400800" y="2409444"/>
            <a:ext cx="621792" cy="62179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Pd</a:t>
            </a:r>
            <a:endParaRPr lang="en-US" sz="1400" dirty="0"/>
          </a:p>
        </p:txBody>
      </p:sp>
      <p:sp>
        <p:nvSpPr>
          <p:cNvPr id="13" name="Text 11"/>
          <p:cNvSpPr txBox="1"/>
          <p:nvPr/>
        </p:nvSpPr>
        <p:spPr>
          <a:xfrm>
            <a:off x="7178040" y="2194560"/>
            <a:ext cx="4114800" cy="365760"/>
          </a:xfrm>
          <a:prstGeom prst="rect">
            <a:avLst/>
          </a:prstGeom>
          <a:noFill/>
          <a:ln/>
        </p:spPr>
        <p:txBody>
          <a:bodyPr wrap="square" lIns="0" tIns="0" rIns="0" bIns="0" rtlCol="0" anchor="ctr"/>
          <a:lstStyle/>
          <a:p>
            <a:pPr indent="0" marL="0">
              <a:buNone/>
            </a:pPr>
            <a:r>
              <a:rPr lang="en-US" sz="1500" b="1" dirty="0">
                <a:solidFill>
                  <a:srgbClr val="1C2B45"/>
                </a:solidFill>
                <a:latin typeface="Calibri" pitchFamily="34" charset="0"/>
                <a:ea typeface="Calibri" pitchFamily="34" charset="-122"/>
                <a:cs typeface="Calibri" pitchFamily="34" charset="-120"/>
              </a:rPr>
              <a:t>Pandas</a:t>
            </a:r>
            <a:endParaRPr lang="en-US" sz="1500" dirty="0"/>
          </a:p>
        </p:txBody>
      </p:sp>
      <p:sp>
        <p:nvSpPr>
          <p:cNvPr id="14" name="Text 12"/>
          <p:cNvSpPr txBox="1"/>
          <p:nvPr/>
        </p:nvSpPr>
        <p:spPr>
          <a:xfrm>
            <a:off x="7178040" y="2633472"/>
            <a:ext cx="4114800" cy="640080"/>
          </a:xfrm>
          <a:prstGeom prst="rect">
            <a:avLst/>
          </a:prstGeom>
          <a:noFill/>
          <a:ln/>
        </p:spPr>
        <p:txBody>
          <a:bodyPr wrap="square" lIns="0" tIns="0" rIns="0" bIns="0" rtlCol="0" anchor="t"/>
          <a:lstStyle/>
          <a:p>
            <a:pPr indent="0" marL="0">
              <a:buNone/>
            </a:pPr>
            <a:r>
              <a:rPr lang="en-US" sz="1150" dirty="0">
                <a:solidFill>
                  <a:srgbClr val="62718A"/>
                </a:solidFill>
                <a:latin typeface="Calibri" pitchFamily="34" charset="0"/>
                <a:ea typeface="Calibri" pitchFamily="34" charset="-122"/>
                <a:cs typeface="Calibri" pitchFamily="34" charset="-120"/>
              </a:rPr>
              <a:t>Data cleaning, wrangling, and date parsing</a:t>
            </a:r>
            <a:endParaRPr lang="en-US" sz="1150" dirty="0"/>
          </a:p>
        </p:txBody>
      </p:sp>
      <p:sp>
        <p:nvSpPr>
          <p:cNvPr id="15" name="Shape 13"/>
          <p:cNvSpPr/>
          <p:nvPr/>
        </p:nvSpPr>
        <p:spPr>
          <a:xfrm>
            <a:off x="548640" y="3630168"/>
            <a:ext cx="5349240" cy="1417320"/>
          </a:xfrm>
          <a:prstGeom prst="roundRect">
            <a:avLst>
              <a:gd name="adj" fmla="val 5806"/>
            </a:avLst>
          </a:prstGeom>
          <a:solidFill>
            <a:srgbClr val="FFFFFF"/>
          </a:solidFill>
          <a:ln w="12700">
            <a:solidFill>
              <a:srgbClr val="D6DFEA"/>
            </a:solidFill>
            <a:prstDash val="solid"/>
          </a:ln>
          <a:effectLst>
            <a:outerShdw sx="100000" sy="100000" kx="0" ky="0" algn="bl" rotWithShape="0" blurRad="63500" dist="25400" dir="5400000">
              <a:srgbClr val="1C2B45">
                <a:alpha val="10000"/>
              </a:srgbClr>
            </a:outerShdw>
          </a:effectLst>
        </p:spPr>
      </p:sp>
      <p:sp>
        <p:nvSpPr>
          <p:cNvPr id="16" name="Shape 14"/>
          <p:cNvSpPr/>
          <p:nvPr/>
        </p:nvSpPr>
        <p:spPr>
          <a:xfrm>
            <a:off x="777240" y="4027932"/>
            <a:ext cx="621792" cy="621792"/>
          </a:xfrm>
          <a:prstGeom prst="ellipse">
            <a:avLst/>
          </a:prstGeom>
          <a:solidFill>
            <a:srgbClr val="1C2B45"/>
          </a:solidFill>
          <a:ln w="12700">
            <a:solidFill>
              <a:srgbClr val="1C2B45"/>
            </a:solidFill>
            <a:prstDash val="solid"/>
          </a:ln>
        </p:spPr>
      </p:sp>
      <p:sp>
        <p:nvSpPr>
          <p:cNvPr id="17" name="Text 15"/>
          <p:cNvSpPr txBox="1"/>
          <p:nvPr/>
        </p:nvSpPr>
        <p:spPr>
          <a:xfrm>
            <a:off x="777240" y="4027932"/>
            <a:ext cx="621792" cy="62179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Np</a:t>
            </a:r>
            <a:endParaRPr lang="en-US" sz="1400" dirty="0"/>
          </a:p>
        </p:txBody>
      </p:sp>
      <p:sp>
        <p:nvSpPr>
          <p:cNvPr id="18" name="Text 16"/>
          <p:cNvSpPr txBox="1"/>
          <p:nvPr/>
        </p:nvSpPr>
        <p:spPr>
          <a:xfrm>
            <a:off x="1554480" y="3813048"/>
            <a:ext cx="4114800" cy="365760"/>
          </a:xfrm>
          <a:prstGeom prst="rect">
            <a:avLst/>
          </a:prstGeom>
          <a:noFill/>
          <a:ln/>
        </p:spPr>
        <p:txBody>
          <a:bodyPr wrap="square" lIns="0" tIns="0" rIns="0" bIns="0" rtlCol="0" anchor="ctr"/>
          <a:lstStyle/>
          <a:p>
            <a:pPr indent="0" marL="0">
              <a:buNone/>
            </a:pPr>
            <a:r>
              <a:rPr lang="en-US" sz="1500" b="1" dirty="0">
                <a:solidFill>
                  <a:srgbClr val="1C2B45"/>
                </a:solidFill>
                <a:latin typeface="Calibri" pitchFamily="34" charset="0"/>
                <a:ea typeface="Calibri" pitchFamily="34" charset="-122"/>
                <a:cs typeface="Calibri" pitchFamily="34" charset="-120"/>
              </a:rPr>
              <a:t>NumPy</a:t>
            </a:r>
            <a:endParaRPr lang="en-US" sz="1500" dirty="0"/>
          </a:p>
        </p:txBody>
      </p:sp>
      <p:sp>
        <p:nvSpPr>
          <p:cNvPr id="19" name="Text 17"/>
          <p:cNvSpPr txBox="1"/>
          <p:nvPr/>
        </p:nvSpPr>
        <p:spPr>
          <a:xfrm>
            <a:off x="1554480" y="4251960"/>
            <a:ext cx="4114800" cy="640080"/>
          </a:xfrm>
          <a:prstGeom prst="rect">
            <a:avLst/>
          </a:prstGeom>
          <a:noFill/>
          <a:ln/>
        </p:spPr>
        <p:txBody>
          <a:bodyPr wrap="square" lIns="0" tIns="0" rIns="0" bIns="0" rtlCol="0" anchor="t"/>
          <a:lstStyle/>
          <a:p>
            <a:pPr indent="0" marL="0">
              <a:buNone/>
            </a:pPr>
            <a:r>
              <a:rPr lang="en-US" sz="1150" dirty="0">
                <a:solidFill>
                  <a:srgbClr val="62718A"/>
                </a:solidFill>
                <a:latin typeface="Calibri" pitchFamily="34" charset="0"/>
                <a:ea typeface="Calibri" pitchFamily="34" charset="-122"/>
                <a:cs typeface="Calibri" pitchFamily="34" charset="-120"/>
              </a:rPr>
              <a:t>Numerical operations across large record sets</a:t>
            </a:r>
            <a:endParaRPr lang="en-US" sz="1150" dirty="0"/>
          </a:p>
        </p:txBody>
      </p:sp>
      <p:sp>
        <p:nvSpPr>
          <p:cNvPr id="20" name="Shape 18"/>
          <p:cNvSpPr/>
          <p:nvPr/>
        </p:nvSpPr>
        <p:spPr>
          <a:xfrm>
            <a:off x="6172200" y="3630168"/>
            <a:ext cx="5349240" cy="1417320"/>
          </a:xfrm>
          <a:prstGeom prst="roundRect">
            <a:avLst>
              <a:gd name="adj" fmla="val 5806"/>
            </a:avLst>
          </a:prstGeom>
          <a:solidFill>
            <a:srgbClr val="FFFFFF"/>
          </a:solidFill>
          <a:ln w="12700">
            <a:solidFill>
              <a:srgbClr val="D6DFEA"/>
            </a:solidFill>
            <a:prstDash val="solid"/>
          </a:ln>
          <a:effectLst>
            <a:outerShdw sx="100000" sy="100000" kx="0" ky="0" algn="bl" rotWithShape="0" blurRad="63500" dist="25400" dir="5400000">
              <a:srgbClr val="1C2B45">
                <a:alpha val="10000"/>
              </a:srgbClr>
            </a:outerShdw>
          </a:effectLst>
        </p:spPr>
      </p:sp>
      <p:sp>
        <p:nvSpPr>
          <p:cNvPr id="21" name="Shape 19"/>
          <p:cNvSpPr/>
          <p:nvPr/>
        </p:nvSpPr>
        <p:spPr>
          <a:xfrm>
            <a:off x="6400800" y="4027932"/>
            <a:ext cx="621792" cy="621792"/>
          </a:xfrm>
          <a:prstGeom prst="ellipse">
            <a:avLst/>
          </a:prstGeom>
          <a:solidFill>
            <a:srgbClr val="1B998B"/>
          </a:solidFill>
          <a:ln w="12700">
            <a:solidFill>
              <a:srgbClr val="1B998B"/>
            </a:solidFill>
            <a:prstDash val="solid"/>
          </a:ln>
        </p:spPr>
      </p:sp>
      <p:sp>
        <p:nvSpPr>
          <p:cNvPr id="22" name="Text 20"/>
          <p:cNvSpPr txBox="1"/>
          <p:nvPr/>
        </p:nvSpPr>
        <p:spPr>
          <a:xfrm>
            <a:off x="6400800" y="4027932"/>
            <a:ext cx="621792" cy="62179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Vz</a:t>
            </a:r>
            <a:endParaRPr lang="en-US" sz="1400" dirty="0"/>
          </a:p>
        </p:txBody>
      </p:sp>
      <p:sp>
        <p:nvSpPr>
          <p:cNvPr id="23" name="Text 21"/>
          <p:cNvSpPr txBox="1"/>
          <p:nvPr/>
        </p:nvSpPr>
        <p:spPr>
          <a:xfrm>
            <a:off x="7178040" y="3813048"/>
            <a:ext cx="4114800" cy="365760"/>
          </a:xfrm>
          <a:prstGeom prst="rect">
            <a:avLst/>
          </a:prstGeom>
          <a:noFill/>
          <a:ln/>
        </p:spPr>
        <p:txBody>
          <a:bodyPr wrap="square" lIns="0" tIns="0" rIns="0" bIns="0" rtlCol="0" anchor="ctr"/>
          <a:lstStyle/>
          <a:p>
            <a:pPr indent="0" marL="0">
              <a:buNone/>
            </a:pPr>
            <a:r>
              <a:rPr lang="en-US" sz="1500" b="1" dirty="0">
                <a:solidFill>
                  <a:srgbClr val="1C2B45"/>
                </a:solidFill>
                <a:latin typeface="Calibri" pitchFamily="34" charset="0"/>
                <a:ea typeface="Calibri" pitchFamily="34" charset="-122"/>
                <a:cs typeface="Calibri" pitchFamily="34" charset="-120"/>
              </a:rPr>
              <a:t>Matplotlib &amp; Seaborn</a:t>
            </a:r>
            <a:endParaRPr lang="en-US" sz="1500" dirty="0"/>
          </a:p>
        </p:txBody>
      </p:sp>
      <p:sp>
        <p:nvSpPr>
          <p:cNvPr id="24" name="Text 22"/>
          <p:cNvSpPr txBox="1"/>
          <p:nvPr/>
        </p:nvSpPr>
        <p:spPr>
          <a:xfrm>
            <a:off x="7178040" y="4251960"/>
            <a:ext cx="4114800" cy="640080"/>
          </a:xfrm>
          <a:prstGeom prst="rect">
            <a:avLst/>
          </a:prstGeom>
          <a:noFill/>
          <a:ln/>
        </p:spPr>
        <p:txBody>
          <a:bodyPr wrap="square" lIns="0" tIns="0" rIns="0" bIns="0" rtlCol="0" anchor="t"/>
          <a:lstStyle/>
          <a:p>
            <a:pPr indent="0" marL="0">
              <a:buNone/>
            </a:pPr>
            <a:r>
              <a:rPr lang="en-US" sz="1150" dirty="0">
                <a:solidFill>
                  <a:srgbClr val="62718A"/>
                </a:solidFill>
                <a:latin typeface="Calibri" pitchFamily="34" charset="0"/>
                <a:ea typeface="Calibri" pitchFamily="34" charset="-122"/>
                <a:cs typeface="Calibri" pitchFamily="34" charset="-120"/>
              </a:rPr>
              <a:t>Time-series plots, bar charts, and heatmaps</a:t>
            </a:r>
            <a:endParaRPr lang="en-US" sz="1150" dirty="0"/>
          </a:p>
        </p:txBody>
      </p:sp>
      <p:sp>
        <p:nvSpPr>
          <p:cNvPr id="25" name="Shape 23"/>
          <p:cNvSpPr/>
          <p:nvPr/>
        </p:nvSpPr>
        <p:spPr>
          <a:xfrm>
            <a:off x="548640" y="5248656"/>
            <a:ext cx="5349240" cy="1417320"/>
          </a:xfrm>
          <a:prstGeom prst="roundRect">
            <a:avLst>
              <a:gd name="adj" fmla="val 5806"/>
            </a:avLst>
          </a:prstGeom>
          <a:solidFill>
            <a:srgbClr val="FFFFFF"/>
          </a:solidFill>
          <a:ln w="12700">
            <a:solidFill>
              <a:srgbClr val="D6DFEA"/>
            </a:solidFill>
            <a:prstDash val="solid"/>
          </a:ln>
          <a:effectLst>
            <a:outerShdw sx="100000" sy="100000" kx="0" ky="0" algn="bl" rotWithShape="0" blurRad="63500" dist="25400" dir="5400000">
              <a:srgbClr val="1C2B45">
                <a:alpha val="10000"/>
              </a:srgbClr>
            </a:outerShdw>
          </a:effectLst>
        </p:spPr>
      </p:sp>
      <p:sp>
        <p:nvSpPr>
          <p:cNvPr id="26" name="Shape 24"/>
          <p:cNvSpPr/>
          <p:nvPr/>
        </p:nvSpPr>
        <p:spPr>
          <a:xfrm>
            <a:off x="777240" y="5646420"/>
            <a:ext cx="621792" cy="621792"/>
          </a:xfrm>
          <a:prstGeom prst="ellipse">
            <a:avLst/>
          </a:prstGeom>
          <a:solidFill>
            <a:srgbClr val="1C2B45"/>
          </a:solidFill>
          <a:ln w="12700">
            <a:solidFill>
              <a:srgbClr val="1C2B45"/>
            </a:solidFill>
            <a:prstDash val="solid"/>
          </a:ln>
        </p:spPr>
      </p:sp>
      <p:sp>
        <p:nvSpPr>
          <p:cNvPr id="27" name="Text 25"/>
          <p:cNvSpPr txBox="1"/>
          <p:nvPr/>
        </p:nvSpPr>
        <p:spPr>
          <a:xfrm>
            <a:off x="777240" y="5646420"/>
            <a:ext cx="621792" cy="62179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IDE</a:t>
            </a:r>
            <a:endParaRPr lang="en-US" sz="1400" dirty="0"/>
          </a:p>
        </p:txBody>
      </p:sp>
      <p:sp>
        <p:nvSpPr>
          <p:cNvPr id="28" name="Text 26"/>
          <p:cNvSpPr txBox="1"/>
          <p:nvPr/>
        </p:nvSpPr>
        <p:spPr>
          <a:xfrm>
            <a:off x="1554480" y="5431536"/>
            <a:ext cx="4114800" cy="365760"/>
          </a:xfrm>
          <a:prstGeom prst="rect">
            <a:avLst/>
          </a:prstGeom>
          <a:noFill/>
          <a:ln/>
        </p:spPr>
        <p:txBody>
          <a:bodyPr wrap="square" lIns="0" tIns="0" rIns="0" bIns="0" rtlCol="0" anchor="ctr"/>
          <a:lstStyle/>
          <a:p>
            <a:pPr indent="0" marL="0">
              <a:buNone/>
            </a:pPr>
            <a:r>
              <a:rPr lang="en-US" sz="1500" b="1" dirty="0">
                <a:solidFill>
                  <a:srgbClr val="1C2B45"/>
                </a:solidFill>
                <a:latin typeface="Calibri" pitchFamily="34" charset="0"/>
                <a:ea typeface="Calibri" pitchFamily="34" charset="-122"/>
                <a:cs typeface="Calibri" pitchFamily="34" charset="-120"/>
              </a:rPr>
              <a:t>Colab / VS Code</a:t>
            </a:r>
            <a:endParaRPr lang="en-US" sz="1500" dirty="0"/>
          </a:p>
        </p:txBody>
      </p:sp>
      <p:sp>
        <p:nvSpPr>
          <p:cNvPr id="29" name="Text 27"/>
          <p:cNvSpPr txBox="1"/>
          <p:nvPr/>
        </p:nvSpPr>
        <p:spPr>
          <a:xfrm>
            <a:off x="1554480" y="5870448"/>
            <a:ext cx="4114800" cy="640080"/>
          </a:xfrm>
          <a:prstGeom prst="rect">
            <a:avLst/>
          </a:prstGeom>
          <a:noFill/>
          <a:ln/>
        </p:spPr>
        <p:txBody>
          <a:bodyPr wrap="square" lIns="0" tIns="0" rIns="0" bIns="0" rtlCol="0" anchor="t"/>
          <a:lstStyle/>
          <a:p>
            <a:pPr indent="0" marL="0">
              <a:buNone/>
            </a:pPr>
            <a:r>
              <a:rPr lang="en-US" sz="1150" dirty="0">
                <a:solidFill>
                  <a:srgbClr val="62718A"/>
                </a:solidFill>
                <a:latin typeface="Calibri" pitchFamily="34" charset="0"/>
                <a:ea typeface="Calibri" pitchFamily="34" charset="-122"/>
                <a:cs typeface="Calibri" pitchFamily="34" charset="-120"/>
              </a:rPr>
              <a:t>Development and analysis environment</a:t>
            </a:r>
            <a:endParaRPr lang="en-US" sz="1150" dirty="0"/>
          </a:p>
        </p:txBody>
      </p:sp>
      <p:sp>
        <p:nvSpPr>
          <p:cNvPr id="30" name="Shape 28"/>
          <p:cNvSpPr/>
          <p:nvPr/>
        </p:nvSpPr>
        <p:spPr>
          <a:xfrm>
            <a:off x="6172200" y="5248656"/>
            <a:ext cx="5349240" cy="1417320"/>
          </a:xfrm>
          <a:prstGeom prst="roundRect">
            <a:avLst>
              <a:gd name="adj" fmla="val 5806"/>
            </a:avLst>
          </a:prstGeom>
          <a:solidFill>
            <a:srgbClr val="FFFFFF"/>
          </a:solidFill>
          <a:ln w="12700">
            <a:solidFill>
              <a:srgbClr val="D6DFEA"/>
            </a:solidFill>
            <a:prstDash val="solid"/>
          </a:ln>
          <a:effectLst>
            <a:outerShdw sx="100000" sy="100000" kx="0" ky="0" algn="bl" rotWithShape="0" blurRad="63500" dist="25400" dir="5400000">
              <a:srgbClr val="1C2B45">
                <a:alpha val="10000"/>
              </a:srgbClr>
            </a:outerShdw>
          </a:effectLst>
        </p:spPr>
      </p:sp>
      <p:sp>
        <p:nvSpPr>
          <p:cNvPr id="31" name="Shape 29"/>
          <p:cNvSpPr/>
          <p:nvPr/>
        </p:nvSpPr>
        <p:spPr>
          <a:xfrm>
            <a:off x="6400800" y="5646420"/>
            <a:ext cx="621792" cy="621792"/>
          </a:xfrm>
          <a:prstGeom prst="ellipse">
            <a:avLst/>
          </a:prstGeom>
          <a:solidFill>
            <a:srgbClr val="1B998B"/>
          </a:solidFill>
          <a:ln w="12700">
            <a:solidFill>
              <a:srgbClr val="1B998B"/>
            </a:solidFill>
            <a:prstDash val="solid"/>
          </a:ln>
        </p:spPr>
      </p:sp>
      <p:sp>
        <p:nvSpPr>
          <p:cNvPr id="32" name="Text 30"/>
          <p:cNvSpPr txBox="1"/>
          <p:nvPr/>
        </p:nvSpPr>
        <p:spPr>
          <a:xfrm>
            <a:off x="6400800" y="5646420"/>
            <a:ext cx="621792" cy="62179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Git</a:t>
            </a:r>
            <a:endParaRPr lang="en-US" sz="1400" dirty="0"/>
          </a:p>
        </p:txBody>
      </p:sp>
      <p:sp>
        <p:nvSpPr>
          <p:cNvPr id="33" name="Text 31"/>
          <p:cNvSpPr txBox="1"/>
          <p:nvPr/>
        </p:nvSpPr>
        <p:spPr>
          <a:xfrm>
            <a:off x="7178040" y="5431536"/>
            <a:ext cx="4114800" cy="365760"/>
          </a:xfrm>
          <a:prstGeom prst="rect">
            <a:avLst/>
          </a:prstGeom>
          <a:noFill/>
          <a:ln/>
        </p:spPr>
        <p:txBody>
          <a:bodyPr wrap="square" lIns="0" tIns="0" rIns="0" bIns="0" rtlCol="0" anchor="ctr"/>
          <a:lstStyle/>
          <a:p>
            <a:pPr indent="0" marL="0">
              <a:buNone/>
            </a:pPr>
            <a:r>
              <a:rPr lang="en-US" sz="1500" b="1" dirty="0">
                <a:solidFill>
                  <a:srgbClr val="1C2B45"/>
                </a:solidFill>
                <a:latin typeface="Calibri" pitchFamily="34" charset="0"/>
                <a:ea typeface="Calibri" pitchFamily="34" charset="-122"/>
                <a:cs typeface="Calibri" pitchFamily="34" charset="-120"/>
              </a:rPr>
              <a:t>GitHub</a:t>
            </a:r>
            <a:endParaRPr lang="en-US" sz="1500" dirty="0"/>
          </a:p>
        </p:txBody>
      </p:sp>
      <p:sp>
        <p:nvSpPr>
          <p:cNvPr id="34" name="Text 32"/>
          <p:cNvSpPr txBox="1"/>
          <p:nvPr/>
        </p:nvSpPr>
        <p:spPr>
          <a:xfrm>
            <a:off x="7178040" y="5870448"/>
            <a:ext cx="4114800" cy="640080"/>
          </a:xfrm>
          <a:prstGeom prst="rect">
            <a:avLst/>
          </a:prstGeom>
          <a:noFill/>
          <a:ln/>
        </p:spPr>
        <p:txBody>
          <a:bodyPr wrap="square" lIns="0" tIns="0" rIns="0" bIns="0" rtlCol="0" anchor="t"/>
          <a:lstStyle/>
          <a:p>
            <a:pPr indent="0" marL="0">
              <a:buNone/>
            </a:pPr>
            <a:r>
              <a:rPr lang="en-US" sz="1150" dirty="0">
                <a:solidFill>
                  <a:srgbClr val="62718A"/>
                </a:solidFill>
                <a:latin typeface="Calibri" pitchFamily="34" charset="0"/>
                <a:ea typeface="Calibri" pitchFamily="34" charset="-122"/>
                <a:cs typeface="Calibri" pitchFamily="34" charset="-120"/>
              </a:rPr>
              <a:t>Version control and project hosting</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EF2F7"/>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320040"/>
          </a:xfrm>
          <a:prstGeom prst="rect">
            <a:avLst/>
          </a:prstGeom>
          <a:noFill/>
          <a:ln/>
        </p:spPr>
        <p:txBody>
          <a:bodyPr wrap="square" lIns="0" tIns="0" rIns="0" bIns="0" rtlCol="0" anchor="ctr"/>
          <a:lstStyle/>
          <a:p>
            <a:pPr indent="0" marL="0">
              <a:buNone/>
            </a:pPr>
            <a:r>
              <a:rPr lang="en-US" sz="1100" b="1" spc="200" kern="0" dirty="0">
                <a:solidFill>
                  <a:srgbClr val="D98E2B"/>
                </a:solidFill>
                <a:latin typeface="Calibri" pitchFamily="34" charset="0"/>
                <a:ea typeface="Calibri" pitchFamily="34" charset="-122"/>
                <a:cs typeface="Calibri" pitchFamily="34" charset="-120"/>
              </a:rPr>
              <a:t>WORKFLOW</a:t>
            </a:r>
            <a:endParaRPr lang="en-US" sz="1100" dirty="0"/>
          </a:p>
        </p:txBody>
      </p:sp>
      <p:sp>
        <p:nvSpPr>
          <p:cNvPr id="3" name="Text 1"/>
          <p:cNvSpPr txBox="1"/>
          <p:nvPr/>
        </p:nvSpPr>
        <p:spPr>
          <a:xfrm>
            <a:off x="548640" y="685800"/>
            <a:ext cx="10515600" cy="640080"/>
          </a:xfrm>
          <a:prstGeom prst="rect">
            <a:avLst/>
          </a:prstGeom>
          <a:noFill/>
          <a:ln/>
        </p:spPr>
        <p:txBody>
          <a:bodyPr wrap="square" lIns="0" tIns="0" rIns="0" bIns="0" rtlCol="0" anchor="ctr"/>
          <a:lstStyle/>
          <a:p>
            <a:pPr indent="0" marL="0">
              <a:buNone/>
            </a:pPr>
            <a:r>
              <a:rPr lang="en-US" sz="3000" b="1" dirty="0">
                <a:solidFill>
                  <a:srgbClr val="1C2B45"/>
                </a:solidFill>
                <a:latin typeface="Cambria" pitchFamily="34" charset="0"/>
                <a:ea typeface="Cambria" pitchFamily="34" charset="-122"/>
                <a:cs typeface="Cambria" pitchFamily="34" charset="-120"/>
              </a:rPr>
              <a:t>Step-by-Step Implementation Workflow</a:t>
            </a:r>
            <a:endParaRPr lang="en-US" sz="3000" dirty="0"/>
          </a:p>
        </p:txBody>
      </p:sp>
      <p:sp>
        <p:nvSpPr>
          <p:cNvPr id="4" name="Text 2"/>
          <p:cNvSpPr txBox="1"/>
          <p:nvPr/>
        </p:nvSpPr>
        <p:spPr>
          <a:xfrm>
            <a:off x="548640" y="1234440"/>
            <a:ext cx="9601200" cy="411480"/>
          </a:xfrm>
          <a:prstGeom prst="rect">
            <a:avLst/>
          </a:prstGeom>
          <a:noFill/>
          <a:ln/>
        </p:spPr>
        <p:txBody>
          <a:bodyPr wrap="square" lIns="0" tIns="0" rIns="0" bIns="0" rtlCol="0" anchor="ctr"/>
          <a:lstStyle/>
          <a:p>
            <a:pPr indent="0" marL="0">
              <a:buNone/>
            </a:pPr>
            <a:r>
              <a:rPr lang="en-US" sz="1450" i="1" dirty="0">
                <a:solidFill>
                  <a:srgbClr val="62718A"/>
                </a:solidFill>
                <a:latin typeface="Calibri" pitchFamily="34" charset="0"/>
                <a:ea typeface="Calibri" pitchFamily="34" charset="-122"/>
                <a:cs typeface="Calibri" pitchFamily="34" charset="-120"/>
              </a:rPr>
              <a:t>From raw CSV records to a clear, time-ordered regional picture.</a:t>
            </a:r>
            <a:endParaRPr lang="en-US" sz="1450" dirty="0"/>
          </a:p>
        </p:txBody>
      </p:sp>
      <p:sp>
        <p:nvSpPr>
          <p:cNvPr id="5" name="Shape 3"/>
          <p:cNvSpPr/>
          <p:nvPr/>
        </p:nvSpPr>
        <p:spPr>
          <a:xfrm>
            <a:off x="1234440" y="2308860"/>
            <a:ext cx="0" cy="3584448"/>
          </a:xfrm>
          <a:prstGeom prst="line">
            <a:avLst/>
          </a:prstGeom>
          <a:noFill/>
          <a:ln w="31750">
            <a:solidFill>
              <a:srgbClr val="D6DFEA"/>
            </a:solidFill>
            <a:prstDash val="solid"/>
          </a:ln>
        </p:spPr>
      </p:sp>
      <p:sp>
        <p:nvSpPr>
          <p:cNvPr id="6" name="Shape 4"/>
          <p:cNvSpPr/>
          <p:nvPr/>
        </p:nvSpPr>
        <p:spPr>
          <a:xfrm>
            <a:off x="982980" y="2057400"/>
            <a:ext cx="502920" cy="502920"/>
          </a:xfrm>
          <a:prstGeom prst="ellipse">
            <a:avLst/>
          </a:prstGeom>
          <a:solidFill>
            <a:srgbClr val="1C2B45"/>
          </a:solidFill>
          <a:ln w="12700">
            <a:solidFill>
              <a:srgbClr val="1C2B45"/>
            </a:solidFill>
            <a:prstDash val="solid"/>
          </a:ln>
        </p:spPr>
      </p:sp>
      <p:sp>
        <p:nvSpPr>
          <p:cNvPr id="7" name="Text 5"/>
          <p:cNvSpPr txBox="1"/>
          <p:nvPr/>
        </p:nvSpPr>
        <p:spPr>
          <a:xfrm>
            <a:off x="982980" y="205740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8" name="Text 6"/>
          <p:cNvSpPr txBox="1"/>
          <p:nvPr/>
        </p:nvSpPr>
        <p:spPr>
          <a:xfrm>
            <a:off x="1737360" y="2002536"/>
            <a:ext cx="3383280" cy="548640"/>
          </a:xfrm>
          <a:prstGeom prst="rect">
            <a:avLst/>
          </a:prstGeom>
          <a:noFill/>
          <a:ln/>
        </p:spPr>
        <p:txBody>
          <a:bodyPr wrap="square" lIns="0" tIns="0" rIns="0" bIns="0" rtlCol="0" anchor="t"/>
          <a:lstStyle/>
          <a:p>
            <a:pPr indent="0" marL="0">
              <a:buNone/>
            </a:pPr>
            <a:r>
              <a:rPr lang="en-US" sz="1350" b="1" dirty="0">
                <a:solidFill>
                  <a:srgbClr val="1C2B45"/>
                </a:solidFill>
                <a:latin typeface="Calibri" pitchFamily="34" charset="0"/>
                <a:ea typeface="Calibri" pitchFamily="34" charset="-122"/>
                <a:cs typeface="Calibri" pitchFamily="34" charset="-120"/>
              </a:rPr>
              <a:t>Data Ingestion &amp; Inspection</a:t>
            </a:r>
            <a:endParaRPr lang="en-US" sz="1350" dirty="0"/>
          </a:p>
        </p:txBody>
      </p:sp>
      <p:sp>
        <p:nvSpPr>
          <p:cNvPr id="9" name="Text 7"/>
          <p:cNvSpPr txBox="1"/>
          <p:nvPr/>
        </p:nvSpPr>
        <p:spPr>
          <a:xfrm>
            <a:off x="5212080" y="2002536"/>
            <a:ext cx="7223760" cy="685800"/>
          </a:xfrm>
          <a:prstGeom prst="rect">
            <a:avLst/>
          </a:prstGeom>
          <a:noFill/>
          <a:ln/>
        </p:spPr>
        <p:txBody>
          <a:bodyPr wrap="square" lIns="0" tIns="0" rIns="0" bIns="0" rtlCol="0" anchor="t"/>
          <a:lstStyle/>
          <a:p>
            <a:pPr indent="0" marL="0">
              <a:buNone/>
            </a:pPr>
            <a:r>
              <a:rPr lang="en-US" sz="1250" dirty="0">
                <a:solidFill>
                  <a:srgbClr val="62718A"/>
                </a:solidFill>
                <a:latin typeface="Calibri" pitchFamily="34" charset="0"/>
                <a:ea typeface="Calibri" pitchFamily="34" charset="-122"/>
                <a:cs typeface="Calibri" pitchFamily="34" charset="-120"/>
              </a:rPr>
              <a:t>Loaded raw CSV data, reviewed summary statistics, and audited null values.</a:t>
            </a:r>
            <a:endParaRPr lang="en-US" sz="1250" dirty="0"/>
          </a:p>
        </p:txBody>
      </p:sp>
      <p:sp>
        <p:nvSpPr>
          <p:cNvPr id="10" name="Shape 8"/>
          <p:cNvSpPr/>
          <p:nvPr/>
        </p:nvSpPr>
        <p:spPr>
          <a:xfrm>
            <a:off x="982980" y="2953512"/>
            <a:ext cx="502920" cy="502920"/>
          </a:xfrm>
          <a:prstGeom prst="ellipse">
            <a:avLst/>
          </a:prstGeom>
          <a:solidFill>
            <a:srgbClr val="1C2B45"/>
          </a:solidFill>
          <a:ln w="12700">
            <a:solidFill>
              <a:srgbClr val="1C2B45"/>
            </a:solidFill>
            <a:prstDash val="solid"/>
          </a:ln>
        </p:spPr>
      </p:sp>
      <p:sp>
        <p:nvSpPr>
          <p:cNvPr id="11" name="Text 9"/>
          <p:cNvSpPr txBox="1"/>
          <p:nvPr/>
        </p:nvSpPr>
        <p:spPr>
          <a:xfrm>
            <a:off x="982980" y="2953512"/>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2" name="Text 10"/>
          <p:cNvSpPr txBox="1"/>
          <p:nvPr/>
        </p:nvSpPr>
        <p:spPr>
          <a:xfrm>
            <a:off x="1737360" y="2898648"/>
            <a:ext cx="3383280" cy="548640"/>
          </a:xfrm>
          <a:prstGeom prst="rect">
            <a:avLst/>
          </a:prstGeom>
          <a:noFill/>
          <a:ln/>
        </p:spPr>
        <p:txBody>
          <a:bodyPr wrap="square" lIns="0" tIns="0" rIns="0" bIns="0" rtlCol="0" anchor="t"/>
          <a:lstStyle/>
          <a:p>
            <a:pPr indent="0" marL="0">
              <a:buNone/>
            </a:pPr>
            <a:r>
              <a:rPr lang="en-US" sz="1350" b="1" dirty="0">
                <a:solidFill>
                  <a:srgbClr val="1C2B45"/>
                </a:solidFill>
                <a:latin typeface="Calibri" pitchFamily="34" charset="0"/>
                <a:ea typeface="Calibri" pitchFamily="34" charset="-122"/>
                <a:cs typeface="Calibri" pitchFamily="34" charset="-120"/>
              </a:rPr>
              <a:t>Data Sanitization</a:t>
            </a:r>
            <a:endParaRPr lang="en-US" sz="1350" dirty="0"/>
          </a:p>
        </p:txBody>
      </p:sp>
      <p:sp>
        <p:nvSpPr>
          <p:cNvPr id="13" name="Text 11"/>
          <p:cNvSpPr txBox="1"/>
          <p:nvPr/>
        </p:nvSpPr>
        <p:spPr>
          <a:xfrm>
            <a:off x="5212080" y="2898648"/>
            <a:ext cx="7223760" cy="685800"/>
          </a:xfrm>
          <a:prstGeom prst="rect">
            <a:avLst/>
          </a:prstGeom>
          <a:noFill/>
          <a:ln/>
        </p:spPr>
        <p:txBody>
          <a:bodyPr wrap="square" lIns="0" tIns="0" rIns="0" bIns="0" rtlCol="0" anchor="t"/>
          <a:lstStyle/>
          <a:p>
            <a:pPr indent="0" marL="0">
              <a:buNone/>
            </a:pPr>
            <a:r>
              <a:rPr lang="en-US" sz="1250" dirty="0">
                <a:solidFill>
                  <a:srgbClr val="62718A"/>
                </a:solidFill>
                <a:latin typeface="Calibri" pitchFamily="34" charset="0"/>
                <a:ea typeface="Calibri" pitchFamily="34" charset="-122"/>
                <a:cs typeface="Calibri" pitchFamily="34" charset="-120"/>
              </a:rPr>
              <a:t>Stripped whitespace from column headers &amp; region names; parsed dates into standard datetime format.</a:t>
            </a:r>
            <a:endParaRPr lang="en-US" sz="1250" dirty="0"/>
          </a:p>
        </p:txBody>
      </p:sp>
      <p:sp>
        <p:nvSpPr>
          <p:cNvPr id="14" name="Shape 12"/>
          <p:cNvSpPr/>
          <p:nvPr/>
        </p:nvSpPr>
        <p:spPr>
          <a:xfrm>
            <a:off x="982980" y="3849624"/>
            <a:ext cx="502920" cy="502920"/>
          </a:xfrm>
          <a:prstGeom prst="ellipse">
            <a:avLst/>
          </a:prstGeom>
          <a:solidFill>
            <a:srgbClr val="1C2B45"/>
          </a:solidFill>
          <a:ln w="12700">
            <a:solidFill>
              <a:srgbClr val="1C2B45"/>
            </a:solidFill>
            <a:prstDash val="solid"/>
          </a:ln>
        </p:spPr>
      </p:sp>
      <p:sp>
        <p:nvSpPr>
          <p:cNvPr id="15" name="Text 13"/>
          <p:cNvSpPr txBox="1"/>
          <p:nvPr/>
        </p:nvSpPr>
        <p:spPr>
          <a:xfrm>
            <a:off x="982980" y="3849624"/>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6" name="Text 14"/>
          <p:cNvSpPr txBox="1"/>
          <p:nvPr/>
        </p:nvSpPr>
        <p:spPr>
          <a:xfrm>
            <a:off x="1737360" y="3794760"/>
            <a:ext cx="3383280" cy="548640"/>
          </a:xfrm>
          <a:prstGeom prst="rect">
            <a:avLst/>
          </a:prstGeom>
          <a:noFill/>
          <a:ln/>
        </p:spPr>
        <p:txBody>
          <a:bodyPr wrap="square" lIns="0" tIns="0" rIns="0" bIns="0" rtlCol="0" anchor="t"/>
          <a:lstStyle/>
          <a:p>
            <a:pPr indent="0" marL="0">
              <a:buNone/>
            </a:pPr>
            <a:r>
              <a:rPr lang="en-US" sz="1350" b="1" dirty="0">
                <a:solidFill>
                  <a:srgbClr val="1C2B45"/>
                </a:solidFill>
                <a:latin typeface="Calibri" pitchFamily="34" charset="0"/>
                <a:ea typeface="Calibri" pitchFamily="34" charset="-122"/>
                <a:cs typeface="Calibri" pitchFamily="34" charset="-120"/>
              </a:rPr>
              <a:t>Exploratory Data Analysis</a:t>
            </a:r>
            <a:endParaRPr lang="en-US" sz="1350" dirty="0"/>
          </a:p>
        </p:txBody>
      </p:sp>
      <p:sp>
        <p:nvSpPr>
          <p:cNvPr id="17" name="Text 15"/>
          <p:cNvSpPr txBox="1"/>
          <p:nvPr/>
        </p:nvSpPr>
        <p:spPr>
          <a:xfrm>
            <a:off x="5212080" y="3794760"/>
            <a:ext cx="7223760" cy="685800"/>
          </a:xfrm>
          <a:prstGeom prst="rect">
            <a:avLst/>
          </a:prstGeom>
          <a:noFill/>
          <a:ln/>
        </p:spPr>
        <p:txBody>
          <a:bodyPr wrap="square" lIns="0" tIns="0" rIns="0" bIns="0" rtlCol="0" anchor="t"/>
          <a:lstStyle/>
          <a:p>
            <a:pPr indent="0" marL="0">
              <a:buNone/>
            </a:pPr>
            <a:r>
              <a:rPr lang="en-US" sz="1250" dirty="0">
                <a:solidFill>
                  <a:srgbClr val="62718A"/>
                </a:solidFill>
                <a:latin typeface="Calibri" pitchFamily="34" charset="0"/>
                <a:ea typeface="Calibri" pitchFamily="34" charset="-122"/>
                <a:cs typeface="Calibri" pitchFamily="34" charset="-120"/>
              </a:rPr>
              <a:t>Computed mean, median, and peak unemployment rates across states and territories.</a:t>
            </a:r>
            <a:endParaRPr lang="en-US" sz="1250" dirty="0"/>
          </a:p>
        </p:txBody>
      </p:sp>
      <p:sp>
        <p:nvSpPr>
          <p:cNvPr id="18" name="Shape 16"/>
          <p:cNvSpPr/>
          <p:nvPr/>
        </p:nvSpPr>
        <p:spPr>
          <a:xfrm>
            <a:off x="982980" y="4745736"/>
            <a:ext cx="502920" cy="502920"/>
          </a:xfrm>
          <a:prstGeom prst="ellipse">
            <a:avLst/>
          </a:prstGeom>
          <a:solidFill>
            <a:srgbClr val="1C2B45"/>
          </a:solidFill>
          <a:ln w="12700">
            <a:solidFill>
              <a:srgbClr val="1C2B45"/>
            </a:solidFill>
            <a:prstDash val="solid"/>
          </a:ln>
        </p:spPr>
      </p:sp>
      <p:sp>
        <p:nvSpPr>
          <p:cNvPr id="19" name="Text 17"/>
          <p:cNvSpPr txBox="1"/>
          <p:nvPr/>
        </p:nvSpPr>
        <p:spPr>
          <a:xfrm>
            <a:off x="982980" y="4745736"/>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0" name="Text 18"/>
          <p:cNvSpPr txBox="1"/>
          <p:nvPr/>
        </p:nvSpPr>
        <p:spPr>
          <a:xfrm>
            <a:off x="1737360" y="4690872"/>
            <a:ext cx="3383280" cy="548640"/>
          </a:xfrm>
          <a:prstGeom prst="rect">
            <a:avLst/>
          </a:prstGeom>
          <a:noFill/>
          <a:ln/>
        </p:spPr>
        <p:txBody>
          <a:bodyPr wrap="square" lIns="0" tIns="0" rIns="0" bIns="0" rtlCol="0" anchor="t"/>
          <a:lstStyle/>
          <a:p>
            <a:pPr indent="0" marL="0">
              <a:buNone/>
            </a:pPr>
            <a:r>
              <a:rPr lang="en-US" sz="1350" b="1" dirty="0">
                <a:solidFill>
                  <a:srgbClr val="1C2B45"/>
                </a:solidFill>
                <a:latin typeface="Calibri" pitchFamily="34" charset="0"/>
                <a:ea typeface="Calibri" pitchFamily="34" charset="-122"/>
                <a:cs typeface="Calibri" pitchFamily="34" charset="-120"/>
              </a:rPr>
              <a:t>Temporal &amp; Shock Analysis</a:t>
            </a:r>
            <a:endParaRPr lang="en-US" sz="1350" dirty="0"/>
          </a:p>
        </p:txBody>
      </p:sp>
      <p:sp>
        <p:nvSpPr>
          <p:cNvPr id="21" name="Text 19"/>
          <p:cNvSpPr txBox="1"/>
          <p:nvPr/>
        </p:nvSpPr>
        <p:spPr>
          <a:xfrm>
            <a:off x="5212080" y="4690872"/>
            <a:ext cx="7223760" cy="685800"/>
          </a:xfrm>
          <a:prstGeom prst="rect">
            <a:avLst/>
          </a:prstGeom>
          <a:noFill/>
          <a:ln/>
        </p:spPr>
        <p:txBody>
          <a:bodyPr wrap="square" lIns="0" tIns="0" rIns="0" bIns="0" rtlCol="0" anchor="t"/>
          <a:lstStyle/>
          <a:p>
            <a:pPr indent="0" marL="0">
              <a:buNone/>
            </a:pPr>
            <a:r>
              <a:rPr lang="en-US" sz="1250" dirty="0">
                <a:solidFill>
                  <a:srgbClr val="62718A"/>
                </a:solidFill>
                <a:latin typeface="Calibri" pitchFamily="34" charset="0"/>
                <a:ea typeface="Calibri" pitchFamily="34" charset="-122"/>
                <a:cs typeface="Calibri" pitchFamily="34" charset="-120"/>
              </a:rPr>
              <a:t>Filtered into pre-lockdown, peak-lockdown, and post-lockdown timeframes to gauge severity.</a:t>
            </a:r>
            <a:endParaRPr lang="en-US" sz="1250" dirty="0"/>
          </a:p>
        </p:txBody>
      </p:sp>
      <p:sp>
        <p:nvSpPr>
          <p:cNvPr id="22" name="Shape 20"/>
          <p:cNvSpPr/>
          <p:nvPr/>
        </p:nvSpPr>
        <p:spPr>
          <a:xfrm>
            <a:off x="982980" y="5641848"/>
            <a:ext cx="502920" cy="502920"/>
          </a:xfrm>
          <a:prstGeom prst="ellipse">
            <a:avLst/>
          </a:prstGeom>
          <a:solidFill>
            <a:srgbClr val="1C2B45"/>
          </a:solidFill>
          <a:ln w="12700">
            <a:solidFill>
              <a:srgbClr val="1C2B45"/>
            </a:solidFill>
            <a:prstDash val="solid"/>
          </a:ln>
        </p:spPr>
      </p:sp>
      <p:sp>
        <p:nvSpPr>
          <p:cNvPr id="23" name="Text 21"/>
          <p:cNvSpPr txBox="1"/>
          <p:nvPr/>
        </p:nvSpPr>
        <p:spPr>
          <a:xfrm>
            <a:off x="982980" y="5641848"/>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24" name="Text 22"/>
          <p:cNvSpPr txBox="1"/>
          <p:nvPr/>
        </p:nvSpPr>
        <p:spPr>
          <a:xfrm>
            <a:off x="1737360" y="5586984"/>
            <a:ext cx="3383280" cy="548640"/>
          </a:xfrm>
          <a:prstGeom prst="rect">
            <a:avLst/>
          </a:prstGeom>
          <a:noFill/>
          <a:ln/>
        </p:spPr>
        <p:txBody>
          <a:bodyPr wrap="square" lIns="0" tIns="0" rIns="0" bIns="0" rtlCol="0" anchor="t"/>
          <a:lstStyle/>
          <a:p>
            <a:pPr indent="0" marL="0">
              <a:buNone/>
            </a:pPr>
            <a:r>
              <a:rPr lang="en-US" sz="1350" b="1" dirty="0">
                <a:solidFill>
                  <a:srgbClr val="1C2B45"/>
                </a:solidFill>
                <a:latin typeface="Calibri" pitchFamily="34" charset="0"/>
                <a:ea typeface="Calibri" pitchFamily="34" charset="-122"/>
                <a:cs typeface="Calibri" pitchFamily="34" charset="-120"/>
              </a:rPr>
              <a:t>Regional Comparison</a:t>
            </a:r>
            <a:endParaRPr lang="en-US" sz="1350" dirty="0"/>
          </a:p>
        </p:txBody>
      </p:sp>
      <p:sp>
        <p:nvSpPr>
          <p:cNvPr id="25" name="Text 23"/>
          <p:cNvSpPr txBox="1"/>
          <p:nvPr/>
        </p:nvSpPr>
        <p:spPr>
          <a:xfrm>
            <a:off x="5212080" y="5586984"/>
            <a:ext cx="7223760" cy="685800"/>
          </a:xfrm>
          <a:prstGeom prst="rect">
            <a:avLst/>
          </a:prstGeom>
          <a:noFill/>
          <a:ln/>
        </p:spPr>
        <p:txBody>
          <a:bodyPr wrap="square" lIns="0" tIns="0" rIns="0" bIns="0" rtlCol="0" anchor="t"/>
          <a:lstStyle/>
          <a:p>
            <a:pPr indent="0" marL="0">
              <a:buNone/>
            </a:pPr>
            <a:r>
              <a:rPr lang="en-US" sz="1250" dirty="0">
                <a:solidFill>
                  <a:srgbClr val="62718A"/>
                </a:solidFill>
                <a:latin typeface="Calibri" pitchFamily="34" charset="0"/>
                <a:ea typeface="Calibri" pitchFamily="34" charset="-122"/>
                <a:cs typeface="Calibri" pitchFamily="34" charset="-120"/>
              </a:rPr>
              <a:t>Built bar charts, time-series lines, and heatmaps to contrast hardest-hit vs. resilient regions.</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EF2F7"/>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320040"/>
          </a:xfrm>
          <a:prstGeom prst="rect">
            <a:avLst/>
          </a:prstGeom>
          <a:noFill/>
          <a:ln/>
        </p:spPr>
        <p:txBody>
          <a:bodyPr wrap="square" lIns="0" tIns="0" rIns="0" bIns="0" rtlCol="0" anchor="ctr"/>
          <a:lstStyle/>
          <a:p>
            <a:pPr indent="0" marL="0">
              <a:buNone/>
            </a:pPr>
            <a:r>
              <a:rPr lang="en-US" sz="1100" b="1" spc="200" kern="0" dirty="0">
                <a:solidFill>
                  <a:srgbClr val="D98E2B"/>
                </a:solidFill>
                <a:latin typeface="Calibri" pitchFamily="34" charset="0"/>
                <a:ea typeface="Calibri" pitchFamily="34" charset="-122"/>
                <a:cs typeface="Calibri" pitchFamily="34" charset="-120"/>
              </a:rPr>
              <a:t>CHALLENGES</a:t>
            </a:r>
            <a:endParaRPr lang="en-US" sz="1100" dirty="0"/>
          </a:p>
        </p:txBody>
      </p:sp>
      <p:sp>
        <p:nvSpPr>
          <p:cNvPr id="3" name="Text 1"/>
          <p:cNvSpPr txBox="1"/>
          <p:nvPr/>
        </p:nvSpPr>
        <p:spPr>
          <a:xfrm>
            <a:off x="548640" y="685800"/>
            <a:ext cx="10515600" cy="640080"/>
          </a:xfrm>
          <a:prstGeom prst="rect">
            <a:avLst/>
          </a:prstGeom>
          <a:noFill/>
          <a:ln/>
        </p:spPr>
        <p:txBody>
          <a:bodyPr wrap="square" lIns="0" tIns="0" rIns="0" bIns="0" rtlCol="0" anchor="ctr"/>
          <a:lstStyle/>
          <a:p>
            <a:pPr indent="0" marL="0">
              <a:buNone/>
            </a:pPr>
            <a:r>
              <a:rPr lang="en-US" sz="3000" b="1" dirty="0">
                <a:solidFill>
                  <a:srgbClr val="1C2B45"/>
                </a:solidFill>
                <a:latin typeface="Cambria" pitchFamily="34" charset="0"/>
                <a:ea typeface="Cambria" pitchFamily="34" charset="-122"/>
                <a:cs typeface="Cambria" pitchFamily="34" charset="-120"/>
              </a:rPr>
              <a:t>Challenges &amp; Technical Difficulties</a:t>
            </a:r>
            <a:endParaRPr lang="en-US" sz="3000" dirty="0"/>
          </a:p>
        </p:txBody>
      </p:sp>
      <p:sp>
        <p:nvSpPr>
          <p:cNvPr id="4" name="Text 2"/>
          <p:cNvSpPr txBox="1"/>
          <p:nvPr/>
        </p:nvSpPr>
        <p:spPr>
          <a:xfrm>
            <a:off x="548640" y="1234440"/>
            <a:ext cx="10058400" cy="411480"/>
          </a:xfrm>
          <a:prstGeom prst="rect">
            <a:avLst/>
          </a:prstGeom>
          <a:noFill/>
          <a:ln/>
        </p:spPr>
        <p:txBody>
          <a:bodyPr wrap="square" lIns="0" tIns="0" rIns="0" bIns="0" rtlCol="0" anchor="ctr"/>
          <a:lstStyle/>
          <a:p>
            <a:pPr indent="0" marL="0">
              <a:buNone/>
            </a:pPr>
            <a:r>
              <a:rPr lang="en-US" sz="1450" i="1" dirty="0">
                <a:solidFill>
                  <a:srgbClr val="62718A"/>
                </a:solidFill>
                <a:latin typeface="Calibri" pitchFamily="34" charset="0"/>
                <a:ea typeface="Calibri" pitchFamily="34" charset="-122"/>
                <a:cs typeface="Calibri" pitchFamily="34" charset="-120"/>
              </a:rPr>
              <a:t>Three real data problems from this project — and exactly how each one was fixed.</a:t>
            </a:r>
            <a:endParaRPr lang="en-US" sz="1450" dirty="0"/>
          </a:p>
        </p:txBody>
      </p:sp>
      <p:sp>
        <p:nvSpPr>
          <p:cNvPr id="5" name="Shape 3"/>
          <p:cNvSpPr/>
          <p:nvPr/>
        </p:nvSpPr>
        <p:spPr>
          <a:xfrm>
            <a:off x="548640" y="1965960"/>
            <a:ext cx="11109960" cy="1298448"/>
          </a:xfrm>
          <a:prstGeom prst="roundRect">
            <a:avLst>
              <a:gd name="adj" fmla="val 5634"/>
            </a:avLst>
          </a:prstGeom>
          <a:solidFill>
            <a:srgbClr val="FFFFFF"/>
          </a:solidFill>
          <a:ln w="12700">
            <a:solidFill>
              <a:srgbClr val="D6DFEA"/>
            </a:solidFill>
            <a:prstDash val="solid"/>
          </a:ln>
          <a:effectLst>
            <a:outerShdw sx="100000" sy="100000" kx="0" ky="0" algn="bl" rotWithShape="0" blurRad="63500" dist="25400" dir="5400000">
              <a:srgbClr val="1C2B45">
                <a:alpha val="10000"/>
              </a:srgbClr>
            </a:outerShdw>
          </a:effectLst>
        </p:spPr>
      </p:sp>
      <p:sp>
        <p:nvSpPr>
          <p:cNvPr id="6" name="Shape 4"/>
          <p:cNvSpPr/>
          <p:nvPr/>
        </p:nvSpPr>
        <p:spPr>
          <a:xfrm>
            <a:off x="777240" y="2167128"/>
            <a:ext cx="457200" cy="457200"/>
          </a:xfrm>
          <a:prstGeom prst="ellipse">
            <a:avLst/>
          </a:prstGeom>
          <a:solidFill>
            <a:srgbClr val="C0392B"/>
          </a:solidFill>
          <a:ln w="12700">
            <a:solidFill>
              <a:srgbClr val="C0392B"/>
            </a:solidFill>
            <a:prstDash val="solid"/>
          </a:ln>
        </p:spPr>
      </p:sp>
      <p:sp>
        <p:nvSpPr>
          <p:cNvPr id="7" name="Text 5"/>
          <p:cNvSpPr txBox="1"/>
          <p:nvPr/>
        </p:nvSpPr>
        <p:spPr>
          <a:xfrm>
            <a:off x="777240" y="216712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8" name="Text 6"/>
          <p:cNvSpPr txBox="1"/>
          <p:nvPr/>
        </p:nvSpPr>
        <p:spPr>
          <a:xfrm>
            <a:off x="1371600" y="2093976"/>
            <a:ext cx="1463040" cy="274320"/>
          </a:xfrm>
          <a:prstGeom prst="rect">
            <a:avLst/>
          </a:prstGeom>
          <a:noFill/>
          <a:ln/>
        </p:spPr>
        <p:txBody>
          <a:bodyPr wrap="square" lIns="0" tIns="0" rIns="0" bIns="0" rtlCol="0" anchor="ctr"/>
          <a:lstStyle/>
          <a:p>
            <a:pPr indent="0" marL="0">
              <a:buNone/>
            </a:pPr>
            <a:r>
              <a:rPr lang="en-US" sz="1000" b="1" spc="100" kern="0" dirty="0">
                <a:solidFill>
                  <a:srgbClr val="C0392B"/>
                </a:solidFill>
                <a:latin typeface="Calibri" pitchFamily="34" charset="0"/>
                <a:ea typeface="Calibri" pitchFamily="34" charset="-122"/>
                <a:cs typeface="Calibri" pitchFamily="34" charset="-120"/>
              </a:rPr>
              <a:t>PROBLEM</a:t>
            </a:r>
            <a:endParaRPr lang="en-US" sz="1000" dirty="0"/>
          </a:p>
        </p:txBody>
      </p:sp>
      <p:sp>
        <p:nvSpPr>
          <p:cNvPr id="9" name="Text 7"/>
          <p:cNvSpPr txBox="1"/>
          <p:nvPr/>
        </p:nvSpPr>
        <p:spPr>
          <a:xfrm>
            <a:off x="1371600" y="2377440"/>
            <a:ext cx="4480560" cy="822960"/>
          </a:xfrm>
          <a:prstGeom prst="rect">
            <a:avLst/>
          </a:prstGeom>
          <a:noFill/>
          <a:ln/>
        </p:spPr>
        <p:txBody>
          <a:bodyPr wrap="square" lIns="0" tIns="0" rIns="0" bIns="0" rtlCol="0" anchor="t"/>
          <a:lstStyle/>
          <a:p>
            <a:pPr indent="0" marL="0">
              <a:buNone/>
            </a:pPr>
            <a:r>
              <a:rPr lang="en-US" sz="1150" dirty="0">
                <a:solidFill>
                  <a:srgbClr val="1C2B45"/>
                </a:solidFill>
                <a:latin typeface="Calibri" pitchFamily="34" charset="0"/>
                <a:ea typeface="Calibri" pitchFamily="34" charset="-122"/>
                <a:cs typeface="Calibri" pitchFamily="34" charset="-120"/>
              </a:rPr>
              <a:t>Hidden whitespace in column headers (e.g. " Frequency", " Estimated Unemployment Rate (%)") caused KeyError bugs.</a:t>
            </a:r>
            <a:endParaRPr lang="en-US" sz="1150" dirty="0"/>
          </a:p>
        </p:txBody>
      </p:sp>
      <p:sp>
        <p:nvSpPr>
          <p:cNvPr id="10" name="Text 8"/>
          <p:cNvSpPr txBox="1"/>
          <p:nvPr/>
        </p:nvSpPr>
        <p:spPr>
          <a:xfrm>
            <a:off x="5897880" y="1965960"/>
            <a:ext cx="457200" cy="1298448"/>
          </a:xfrm>
          <a:prstGeom prst="rect">
            <a:avLst/>
          </a:prstGeom>
          <a:noFill/>
          <a:ln/>
        </p:spPr>
        <p:txBody>
          <a:bodyPr wrap="square" lIns="0" tIns="0" rIns="0" bIns="0" rtlCol="0" anchor="ctr"/>
          <a:lstStyle/>
          <a:p>
            <a:pPr algn="ctr" indent="0" marL="0">
              <a:buNone/>
            </a:pPr>
            <a:r>
              <a:rPr lang="en-US" sz="2200" b="1" dirty="0">
                <a:solidFill>
                  <a:srgbClr val="D6DFEA"/>
                </a:solidFill>
                <a:latin typeface="Calibri" pitchFamily="34" charset="0"/>
                <a:ea typeface="Calibri" pitchFamily="34" charset="-122"/>
                <a:cs typeface="Calibri" pitchFamily="34" charset="-120"/>
              </a:rPr>
              <a:t>→</a:t>
            </a:r>
            <a:endParaRPr lang="en-US" sz="2200" dirty="0"/>
          </a:p>
        </p:txBody>
      </p:sp>
      <p:sp>
        <p:nvSpPr>
          <p:cNvPr id="11" name="Shape 9"/>
          <p:cNvSpPr/>
          <p:nvPr/>
        </p:nvSpPr>
        <p:spPr>
          <a:xfrm>
            <a:off x="6537960" y="2167128"/>
            <a:ext cx="457200" cy="457200"/>
          </a:xfrm>
          <a:prstGeom prst="ellipse">
            <a:avLst/>
          </a:prstGeom>
          <a:solidFill>
            <a:srgbClr val="1B998B"/>
          </a:solidFill>
          <a:ln w="12700">
            <a:solidFill>
              <a:srgbClr val="1B998B"/>
            </a:solidFill>
            <a:prstDash val="solid"/>
          </a:ln>
        </p:spPr>
      </p:sp>
      <p:sp>
        <p:nvSpPr>
          <p:cNvPr id="12" name="Text 10"/>
          <p:cNvSpPr txBox="1"/>
          <p:nvPr/>
        </p:nvSpPr>
        <p:spPr>
          <a:xfrm>
            <a:off x="6537960" y="216712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3" name="Text 11"/>
          <p:cNvSpPr txBox="1"/>
          <p:nvPr/>
        </p:nvSpPr>
        <p:spPr>
          <a:xfrm>
            <a:off x="7132320" y="2093976"/>
            <a:ext cx="1463040" cy="274320"/>
          </a:xfrm>
          <a:prstGeom prst="rect">
            <a:avLst/>
          </a:prstGeom>
          <a:noFill/>
          <a:ln/>
        </p:spPr>
        <p:txBody>
          <a:bodyPr wrap="square" lIns="0" tIns="0" rIns="0" bIns="0" rtlCol="0" anchor="ctr"/>
          <a:lstStyle/>
          <a:p>
            <a:pPr indent="0" marL="0">
              <a:buNone/>
            </a:pPr>
            <a:r>
              <a:rPr lang="en-US" sz="1000" b="1" spc="100" kern="0" dirty="0">
                <a:solidFill>
                  <a:srgbClr val="1B998B"/>
                </a:solidFill>
                <a:latin typeface="Calibri" pitchFamily="34" charset="0"/>
                <a:ea typeface="Calibri" pitchFamily="34" charset="-122"/>
                <a:cs typeface="Calibri" pitchFamily="34" charset="-120"/>
              </a:rPr>
              <a:t>SOLUTION</a:t>
            </a:r>
            <a:endParaRPr lang="en-US" sz="1000" dirty="0"/>
          </a:p>
        </p:txBody>
      </p:sp>
      <p:sp>
        <p:nvSpPr>
          <p:cNvPr id="14" name="Text 12"/>
          <p:cNvSpPr txBox="1"/>
          <p:nvPr/>
        </p:nvSpPr>
        <p:spPr>
          <a:xfrm>
            <a:off x="7132320" y="2377440"/>
            <a:ext cx="4343400" cy="822960"/>
          </a:xfrm>
          <a:prstGeom prst="rect">
            <a:avLst/>
          </a:prstGeom>
          <a:noFill/>
          <a:ln/>
        </p:spPr>
        <p:txBody>
          <a:bodyPr wrap="square" lIns="0" tIns="0" rIns="0" bIns="0" rtlCol="0" anchor="t"/>
          <a:lstStyle/>
          <a:p>
            <a:pPr indent="0" marL="0">
              <a:buNone/>
            </a:pPr>
            <a:r>
              <a:rPr lang="en-US" sz="1150" dirty="0">
                <a:solidFill>
                  <a:srgbClr val="1C2B45"/>
                </a:solidFill>
                <a:latin typeface="Calibri" pitchFamily="34" charset="0"/>
                <a:ea typeface="Calibri" pitchFamily="34" charset="-122"/>
                <a:cs typeface="Calibri" pitchFamily="34" charset="-120"/>
              </a:rPr>
              <a:t>Stripped whitespace from every column name programmatically with df.columns.str.strip().</a:t>
            </a:r>
            <a:endParaRPr lang="en-US" sz="1150" dirty="0"/>
          </a:p>
        </p:txBody>
      </p:sp>
      <p:sp>
        <p:nvSpPr>
          <p:cNvPr id="15" name="Shape 13"/>
          <p:cNvSpPr/>
          <p:nvPr/>
        </p:nvSpPr>
        <p:spPr>
          <a:xfrm>
            <a:off x="548640" y="3429000"/>
            <a:ext cx="11109960" cy="1298448"/>
          </a:xfrm>
          <a:prstGeom prst="roundRect">
            <a:avLst>
              <a:gd name="adj" fmla="val 5634"/>
            </a:avLst>
          </a:prstGeom>
          <a:solidFill>
            <a:srgbClr val="FFFFFF"/>
          </a:solidFill>
          <a:ln w="12700">
            <a:solidFill>
              <a:srgbClr val="D6DFEA"/>
            </a:solidFill>
            <a:prstDash val="solid"/>
          </a:ln>
          <a:effectLst>
            <a:outerShdw sx="100000" sy="100000" kx="0" ky="0" algn="bl" rotWithShape="0" blurRad="63500" dist="25400" dir="5400000">
              <a:srgbClr val="1C2B45">
                <a:alpha val="10000"/>
              </a:srgbClr>
            </a:outerShdw>
          </a:effectLst>
        </p:spPr>
      </p:sp>
      <p:sp>
        <p:nvSpPr>
          <p:cNvPr id="16" name="Shape 14"/>
          <p:cNvSpPr/>
          <p:nvPr/>
        </p:nvSpPr>
        <p:spPr>
          <a:xfrm>
            <a:off x="777240" y="3630168"/>
            <a:ext cx="457200" cy="457200"/>
          </a:xfrm>
          <a:prstGeom prst="ellipse">
            <a:avLst/>
          </a:prstGeom>
          <a:solidFill>
            <a:srgbClr val="C0392B"/>
          </a:solidFill>
          <a:ln w="12700">
            <a:solidFill>
              <a:srgbClr val="C0392B"/>
            </a:solidFill>
            <a:prstDash val="solid"/>
          </a:ln>
        </p:spPr>
      </p:sp>
      <p:sp>
        <p:nvSpPr>
          <p:cNvPr id="17" name="Text 15"/>
          <p:cNvSpPr txBox="1"/>
          <p:nvPr/>
        </p:nvSpPr>
        <p:spPr>
          <a:xfrm>
            <a:off x="777240" y="363016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18" name="Text 16"/>
          <p:cNvSpPr txBox="1"/>
          <p:nvPr/>
        </p:nvSpPr>
        <p:spPr>
          <a:xfrm>
            <a:off x="1371600" y="3557016"/>
            <a:ext cx="1463040" cy="274320"/>
          </a:xfrm>
          <a:prstGeom prst="rect">
            <a:avLst/>
          </a:prstGeom>
          <a:noFill/>
          <a:ln/>
        </p:spPr>
        <p:txBody>
          <a:bodyPr wrap="square" lIns="0" tIns="0" rIns="0" bIns="0" rtlCol="0" anchor="ctr"/>
          <a:lstStyle/>
          <a:p>
            <a:pPr indent="0" marL="0">
              <a:buNone/>
            </a:pPr>
            <a:r>
              <a:rPr lang="en-US" sz="1000" b="1" spc="100" kern="0" dirty="0">
                <a:solidFill>
                  <a:srgbClr val="C0392B"/>
                </a:solidFill>
                <a:latin typeface="Calibri" pitchFamily="34" charset="0"/>
                <a:ea typeface="Calibri" pitchFamily="34" charset="-122"/>
                <a:cs typeface="Calibri" pitchFamily="34" charset="-120"/>
              </a:rPr>
              <a:t>PROBLEM</a:t>
            </a:r>
            <a:endParaRPr lang="en-US" sz="1000" dirty="0"/>
          </a:p>
        </p:txBody>
      </p:sp>
      <p:sp>
        <p:nvSpPr>
          <p:cNvPr id="19" name="Text 17"/>
          <p:cNvSpPr txBox="1"/>
          <p:nvPr/>
        </p:nvSpPr>
        <p:spPr>
          <a:xfrm>
            <a:off x="1371600" y="3840480"/>
            <a:ext cx="4480560" cy="822960"/>
          </a:xfrm>
          <a:prstGeom prst="rect">
            <a:avLst/>
          </a:prstGeom>
          <a:noFill/>
          <a:ln/>
        </p:spPr>
        <p:txBody>
          <a:bodyPr wrap="square" lIns="0" tIns="0" rIns="0" bIns="0" rtlCol="0" anchor="t"/>
          <a:lstStyle/>
          <a:p>
            <a:pPr indent="0" marL="0">
              <a:buNone/>
            </a:pPr>
            <a:r>
              <a:rPr lang="en-US" sz="1150" dirty="0">
                <a:solidFill>
                  <a:srgbClr val="1C2B45"/>
                </a:solidFill>
                <a:latin typeface="Calibri" pitchFamily="34" charset="0"/>
                <a:ea typeface="Calibri" pitchFamily="34" charset="-122"/>
                <a:cs typeface="Calibri" pitchFamily="34" charset="-120"/>
              </a:rPr>
              <a:t>Inconsistent raw date strings prevented the data from sorting correctly in chronological order.</a:t>
            </a:r>
            <a:endParaRPr lang="en-US" sz="1150" dirty="0"/>
          </a:p>
        </p:txBody>
      </p:sp>
      <p:sp>
        <p:nvSpPr>
          <p:cNvPr id="20" name="Text 18"/>
          <p:cNvSpPr txBox="1"/>
          <p:nvPr/>
        </p:nvSpPr>
        <p:spPr>
          <a:xfrm>
            <a:off x="5897880" y="3429000"/>
            <a:ext cx="457200" cy="1298448"/>
          </a:xfrm>
          <a:prstGeom prst="rect">
            <a:avLst/>
          </a:prstGeom>
          <a:noFill/>
          <a:ln/>
        </p:spPr>
        <p:txBody>
          <a:bodyPr wrap="square" lIns="0" tIns="0" rIns="0" bIns="0" rtlCol="0" anchor="ctr"/>
          <a:lstStyle/>
          <a:p>
            <a:pPr algn="ctr" indent="0" marL="0">
              <a:buNone/>
            </a:pPr>
            <a:r>
              <a:rPr lang="en-US" sz="2200" b="1" dirty="0">
                <a:solidFill>
                  <a:srgbClr val="D6DFEA"/>
                </a:solidFill>
                <a:latin typeface="Calibri" pitchFamily="34" charset="0"/>
                <a:ea typeface="Calibri" pitchFamily="34" charset="-122"/>
                <a:cs typeface="Calibri" pitchFamily="34" charset="-120"/>
              </a:rPr>
              <a:t>→</a:t>
            </a:r>
            <a:endParaRPr lang="en-US" sz="2200" dirty="0"/>
          </a:p>
        </p:txBody>
      </p:sp>
      <p:sp>
        <p:nvSpPr>
          <p:cNvPr id="21" name="Shape 19"/>
          <p:cNvSpPr/>
          <p:nvPr/>
        </p:nvSpPr>
        <p:spPr>
          <a:xfrm>
            <a:off x="6537960" y="3630168"/>
            <a:ext cx="457200" cy="457200"/>
          </a:xfrm>
          <a:prstGeom prst="ellipse">
            <a:avLst/>
          </a:prstGeom>
          <a:solidFill>
            <a:srgbClr val="1B998B"/>
          </a:solidFill>
          <a:ln w="12700">
            <a:solidFill>
              <a:srgbClr val="1B998B"/>
            </a:solidFill>
            <a:prstDash val="solid"/>
          </a:ln>
        </p:spPr>
      </p:sp>
      <p:sp>
        <p:nvSpPr>
          <p:cNvPr id="22" name="Text 20"/>
          <p:cNvSpPr txBox="1"/>
          <p:nvPr/>
        </p:nvSpPr>
        <p:spPr>
          <a:xfrm>
            <a:off x="6537960" y="363016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23" name="Text 21"/>
          <p:cNvSpPr txBox="1"/>
          <p:nvPr/>
        </p:nvSpPr>
        <p:spPr>
          <a:xfrm>
            <a:off x="7132320" y="3557016"/>
            <a:ext cx="1463040" cy="274320"/>
          </a:xfrm>
          <a:prstGeom prst="rect">
            <a:avLst/>
          </a:prstGeom>
          <a:noFill/>
          <a:ln/>
        </p:spPr>
        <p:txBody>
          <a:bodyPr wrap="square" lIns="0" tIns="0" rIns="0" bIns="0" rtlCol="0" anchor="ctr"/>
          <a:lstStyle/>
          <a:p>
            <a:pPr indent="0" marL="0">
              <a:buNone/>
            </a:pPr>
            <a:r>
              <a:rPr lang="en-US" sz="1000" b="1" spc="100" kern="0" dirty="0">
                <a:solidFill>
                  <a:srgbClr val="1B998B"/>
                </a:solidFill>
                <a:latin typeface="Calibri" pitchFamily="34" charset="0"/>
                <a:ea typeface="Calibri" pitchFamily="34" charset="-122"/>
                <a:cs typeface="Calibri" pitchFamily="34" charset="-120"/>
              </a:rPr>
              <a:t>SOLUTION</a:t>
            </a:r>
            <a:endParaRPr lang="en-US" sz="1000" dirty="0"/>
          </a:p>
        </p:txBody>
      </p:sp>
      <p:sp>
        <p:nvSpPr>
          <p:cNvPr id="24" name="Text 22"/>
          <p:cNvSpPr txBox="1"/>
          <p:nvPr/>
        </p:nvSpPr>
        <p:spPr>
          <a:xfrm>
            <a:off x="7132320" y="3840480"/>
            <a:ext cx="4343400" cy="822960"/>
          </a:xfrm>
          <a:prstGeom prst="rect">
            <a:avLst/>
          </a:prstGeom>
          <a:noFill/>
          <a:ln/>
        </p:spPr>
        <p:txBody>
          <a:bodyPr wrap="square" lIns="0" tIns="0" rIns="0" bIns="0" rtlCol="0" anchor="t"/>
          <a:lstStyle/>
          <a:p>
            <a:pPr indent="0" marL="0">
              <a:buNone/>
            </a:pPr>
            <a:r>
              <a:rPr lang="en-US" sz="1150" dirty="0">
                <a:solidFill>
                  <a:srgbClr val="1C2B45"/>
                </a:solidFill>
                <a:latin typeface="Calibri" pitchFamily="34" charset="0"/>
                <a:ea typeface="Calibri" pitchFamily="34" charset="-122"/>
                <a:cs typeface="Calibri" pitchFamily="34" charset="-120"/>
              </a:rPr>
              <a:t>Parsed dates into standard datetime objects and sorted chronologically so trend lines render correctly.</a:t>
            </a:r>
            <a:endParaRPr lang="en-US" sz="1150" dirty="0"/>
          </a:p>
        </p:txBody>
      </p:sp>
      <p:sp>
        <p:nvSpPr>
          <p:cNvPr id="25" name="Shape 23"/>
          <p:cNvSpPr/>
          <p:nvPr/>
        </p:nvSpPr>
        <p:spPr>
          <a:xfrm>
            <a:off x="548640" y="4892040"/>
            <a:ext cx="11109960" cy="1298448"/>
          </a:xfrm>
          <a:prstGeom prst="roundRect">
            <a:avLst>
              <a:gd name="adj" fmla="val 5634"/>
            </a:avLst>
          </a:prstGeom>
          <a:solidFill>
            <a:srgbClr val="FFFFFF"/>
          </a:solidFill>
          <a:ln w="12700">
            <a:solidFill>
              <a:srgbClr val="D6DFEA"/>
            </a:solidFill>
            <a:prstDash val="solid"/>
          </a:ln>
          <a:effectLst>
            <a:outerShdw sx="100000" sy="100000" kx="0" ky="0" algn="bl" rotWithShape="0" blurRad="63500" dist="25400" dir="5400000">
              <a:srgbClr val="1C2B45">
                <a:alpha val="10000"/>
              </a:srgbClr>
            </a:outerShdw>
          </a:effectLst>
        </p:spPr>
      </p:sp>
      <p:sp>
        <p:nvSpPr>
          <p:cNvPr id="26" name="Shape 24"/>
          <p:cNvSpPr/>
          <p:nvPr/>
        </p:nvSpPr>
        <p:spPr>
          <a:xfrm>
            <a:off x="777240" y="5093208"/>
            <a:ext cx="457200" cy="457200"/>
          </a:xfrm>
          <a:prstGeom prst="ellipse">
            <a:avLst/>
          </a:prstGeom>
          <a:solidFill>
            <a:srgbClr val="C0392B"/>
          </a:solidFill>
          <a:ln w="12700">
            <a:solidFill>
              <a:srgbClr val="C0392B"/>
            </a:solidFill>
            <a:prstDash val="solid"/>
          </a:ln>
        </p:spPr>
      </p:sp>
      <p:sp>
        <p:nvSpPr>
          <p:cNvPr id="27" name="Text 25"/>
          <p:cNvSpPr txBox="1"/>
          <p:nvPr/>
        </p:nvSpPr>
        <p:spPr>
          <a:xfrm>
            <a:off x="777240" y="509320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28" name="Text 26"/>
          <p:cNvSpPr txBox="1"/>
          <p:nvPr/>
        </p:nvSpPr>
        <p:spPr>
          <a:xfrm>
            <a:off x="1371600" y="5020056"/>
            <a:ext cx="1463040" cy="274320"/>
          </a:xfrm>
          <a:prstGeom prst="rect">
            <a:avLst/>
          </a:prstGeom>
          <a:noFill/>
          <a:ln/>
        </p:spPr>
        <p:txBody>
          <a:bodyPr wrap="square" lIns="0" tIns="0" rIns="0" bIns="0" rtlCol="0" anchor="ctr"/>
          <a:lstStyle/>
          <a:p>
            <a:pPr indent="0" marL="0">
              <a:buNone/>
            </a:pPr>
            <a:r>
              <a:rPr lang="en-US" sz="1000" b="1" spc="100" kern="0" dirty="0">
                <a:solidFill>
                  <a:srgbClr val="C0392B"/>
                </a:solidFill>
                <a:latin typeface="Calibri" pitchFamily="34" charset="0"/>
                <a:ea typeface="Calibri" pitchFamily="34" charset="-122"/>
                <a:cs typeface="Calibri" pitchFamily="34" charset="-120"/>
              </a:rPr>
              <a:t>PROBLEM</a:t>
            </a:r>
            <a:endParaRPr lang="en-US" sz="1000" dirty="0"/>
          </a:p>
        </p:txBody>
      </p:sp>
      <p:sp>
        <p:nvSpPr>
          <p:cNvPr id="29" name="Text 27"/>
          <p:cNvSpPr txBox="1"/>
          <p:nvPr/>
        </p:nvSpPr>
        <p:spPr>
          <a:xfrm>
            <a:off x="1371600" y="5303520"/>
            <a:ext cx="4480560" cy="822960"/>
          </a:xfrm>
          <a:prstGeom prst="rect">
            <a:avLst/>
          </a:prstGeom>
          <a:noFill/>
          <a:ln/>
        </p:spPr>
        <p:txBody>
          <a:bodyPr wrap="square" lIns="0" tIns="0" rIns="0" bIns="0" rtlCol="0" anchor="t"/>
          <a:lstStyle/>
          <a:p>
            <a:pPr indent="0" marL="0">
              <a:buNone/>
            </a:pPr>
            <a:r>
              <a:rPr lang="en-US" sz="1150" dirty="0">
                <a:solidFill>
                  <a:srgbClr val="1C2B45"/>
                </a:solidFill>
                <a:latin typeface="Calibri" pitchFamily="34" charset="0"/>
                <a:ea typeface="Calibri" pitchFamily="34" charset="-122"/>
                <a:cs typeface="Calibri" pitchFamily="34" charset="-120"/>
              </a:rPr>
              <a:t>Extreme lockdown spikes visually flattened the surrounding baseline trends on shared charts.</a:t>
            </a:r>
            <a:endParaRPr lang="en-US" sz="1150" dirty="0"/>
          </a:p>
        </p:txBody>
      </p:sp>
      <p:sp>
        <p:nvSpPr>
          <p:cNvPr id="30" name="Text 28"/>
          <p:cNvSpPr txBox="1"/>
          <p:nvPr/>
        </p:nvSpPr>
        <p:spPr>
          <a:xfrm>
            <a:off x="5897880" y="4892040"/>
            <a:ext cx="457200" cy="1298448"/>
          </a:xfrm>
          <a:prstGeom prst="rect">
            <a:avLst/>
          </a:prstGeom>
          <a:noFill/>
          <a:ln/>
        </p:spPr>
        <p:txBody>
          <a:bodyPr wrap="square" lIns="0" tIns="0" rIns="0" bIns="0" rtlCol="0" anchor="ctr"/>
          <a:lstStyle/>
          <a:p>
            <a:pPr algn="ctr" indent="0" marL="0">
              <a:buNone/>
            </a:pPr>
            <a:r>
              <a:rPr lang="en-US" sz="2200" b="1" dirty="0">
                <a:solidFill>
                  <a:srgbClr val="D6DFEA"/>
                </a:solidFill>
                <a:latin typeface="Calibri" pitchFamily="34" charset="0"/>
                <a:ea typeface="Calibri" pitchFamily="34" charset="-122"/>
                <a:cs typeface="Calibri" pitchFamily="34" charset="-120"/>
              </a:rPr>
              <a:t>→</a:t>
            </a:r>
            <a:endParaRPr lang="en-US" sz="2200" dirty="0"/>
          </a:p>
        </p:txBody>
      </p:sp>
      <p:sp>
        <p:nvSpPr>
          <p:cNvPr id="31" name="Shape 29"/>
          <p:cNvSpPr/>
          <p:nvPr/>
        </p:nvSpPr>
        <p:spPr>
          <a:xfrm>
            <a:off x="6537960" y="5093208"/>
            <a:ext cx="457200" cy="457200"/>
          </a:xfrm>
          <a:prstGeom prst="ellipse">
            <a:avLst/>
          </a:prstGeom>
          <a:solidFill>
            <a:srgbClr val="1B998B"/>
          </a:solidFill>
          <a:ln w="12700">
            <a:solidFill>
              <a:srgbClr val="1B998B"/>
            </a:solidFill>
            <a:prstDash val="solid"/>
          </a:ln>
        </p:spPr>
      </p:sp>
      <p:sp>
        <p:nvSpPr>
          <p:cNvPr id="32" name="Text 30"/>
          <p:cNvSpPr txBox="1"/>
          <p:nvPr/>
        </p:nvSpPr>
        <p:spPr>
          <a:xfrm>
            <a:off x="6537960" y="509320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33" name="Text 31"/>
          <p:cNvSpPr txBox="1"/>
          <p:nvPr/>
        </p:nvSpPr>
        <p:spPr>
          <a:xfrm>
            <a:off x="7132320" y="5020056"/>
            <a:ext cx="1463040" cy="274320"/>
          </a:xfrm>
          <a:prstGeom prst="rect">
            <a:avLst/>
          </a:prstGeom>
          <a:noFill/>
          <a:ln/>
        </p:spPr>
        <p:txBody>
          <a:bodyPr wrap="square" lIns="0" tIns="0" rIns="0" bIns="0" rtlCol="0" anchor="ctr"/>
          <a:lstStyle/>
          <a:p>
            <a:pPr indent="0" marL="0">
              <a:buNone/>
            </a:pPr>
            <a:r>
              <a:rPr lang="en-US" sz="1000" b="1" spc="100" kern="0" dirty="0">
                <a:solidFill>
                  <a:srgbClr val="1B998B"/>
                </a:solidFill>
                <a:latin typeface="Calibri" pitchFamily="34" charset="0"/>
                <a:ea typeface="Calibri" pitchFamily="34" charset="-122"/>
                <a:cs typeface="Calibri" pitchFamily="34" charset="-120"/>
              </a:rPr>
              <a:t>SOLUTION</a:t>
            </a:r>
            <a:endParaRPr lang="en-US" sz="1000" dirty="0"/>
          </a:p>
        </p:txBody>
      </p:sp>
      <p:sp>
        <p:nvSpPr>
          <p:cNvPr id="34" name="Text 32"/>
          <p:cNvSpPr txBox="1"/>
          <p:nvPr/>
        </p:nvSpPr>
        <p:spPr>
          <a:xfrm>
            <a:off x="7132320" y="5303520"/>
            <a:ext cx="4343400" cy="822960"/>
          </a:xfrm>
          <a:prstGeom prst="rect">
            <a:avLst/>
          </a:prstGeom>
          <a:noFill/>
          <a:ln/>
        </p:spPr>
        <p:txBody>
          <a:bodyPr wrap="square" lIns="0" tIns="0" rIns="0" bIns="0" rtlCol="0" anchor="t"/>
          <a:lstStyle/>
          <a:p>
            <a:pPr indent="0" marL="0">
              <a:buNone/>
            </a:pPr>
            <a:r>
              <a:rPr lang="en-US" sz="1150" dirty="0">
                <a:solidFill>
                  <a:srgbClr val="1C2B45"/>
                </a:solidFill>
                <a:latin typeface="Calibri" pitchFamily="34" charset="0"/>
                <a:ea typeface="Calibri" pitchFamily="34" charset="-122"/>
                <a:cs typeface="Calibri" pitchFamily="34" charset="-120"/>
              </a:rPr>
              <a:t>Used segmented pre- and post-crisis subplots so normal-period trends stay clearly visible.</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C2B45"/>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320040"/>
          </a:xfrm>
          <a:prstGeom prst="rect">
            <a:avLst/>
          </a:prstGeom>
          <a:noFill/>
          <a:ln/>
        </p:spPr>
        <p:txBody>
          <a:bodyPr wrap="square" lIns="0" tIns="0" rIns="0" bIns="0" rtlCol="0" anchor="ctr"/>
          <a:lstStyle/>
          <a:p>
            <a:pPr indent="0" marL="0">
              <a:buNone/>
            </a:pPr>
            <a:r>
              <a:rPr lang="en-US" sz="1100" b="1" spc="200" kern="0" dirty="0">
                <a:solidFill>
                  <a:srgbClr val="D98E2B"/>
                </a:solidFill>
                <a:latin typeface="Calibri" pitchFamily="34" charset="0"/>
                <a:ea typeface="Calibri" pitchFamily="34" charset="-122"/>
                <a:cs typeface="Calibri" pitchFamily="34" charset="-120"/>
              </a:rPr>
              <a:t>FINDINGS</a:t>
            </a:r>
            <a:endParaRPr lang="en-US" sz="1100" dirty="0"/>
          </a:p>
        </p:txBody>
      </p:sp>
      <p:sp>
        <p:nvSpPr>
          <p:cNvPr id="3" name="Text 1"/>
          <p:cNvSpPr txBox="1"/>
          <p:nvPr/>
        </p:nvSpPr>
        <p:spPr>
          <a:xfrm>
            <a:off x="548640" y="685800"/>
            <a:ext cx="1051560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Key Findings &amp; Economic Takeaways</a:t>
            </a:r>
            <a:endParaRPr lang="en-US" sz="3000" dirty="0"/>
          </a:p>
        </p:txBody>
      </p:sp>
      <p:sp>
        <p:nvSpPr>
          <p:cNvPr id="4" name="Text 2"/>
          <p:cNvSpPr txBox="1"/>
          <p:nvPr/>
        </p:nvSpPr>
        <p:spPr>
          <a:xfrm>
            <a:off x="548640" y="1280160"/>
            <a:ext cx="10058400" cy="411480"/>
          </a:xfrm>
          <a:prstGeom prst="rect">
            <a:avLst/>
          </a:prstGeom>
          <a:noFill/>
          <a:ln/>
        </p:spPr>
        <p:txBody>
          <a:bodyPr wrap="square" lIns="0" tIns="0" rIns="0" bIns="0" rtlCol="0" anchor="ctr"/>
          <a:lstStyle/>
          <a:p>
            <a:pPr indent="0" marL="0">
              <a:buNone/>
            </a:pPr>
            <a:r>
              <a:rPr lang="en-US" sz="1450" i="1" dirty="0">
                <a:solidFill>
                  <a:srgbClr val="D6DFEA"/>
                </a:solidFill>
                <a:latin typeface="Calibri" pitchFamily="34" charset="0"/>
                <a:ea typeface="Calibri" pitchFamily="34" charset="-122"/>
                <a:cs typeface="Calibri" pitchFamily="34" charset="-120"/>
              </a:rPr>
              <a:t>The lockdown shock was sharp, uneven across regions, and unevenly recovered from.</a:t>
            </a:r>
            <a:endParaRPr lang="en-US" sz="1450" dirty="0"/>
          </a:p>
        </p:txBody>
      </p:sp>
      <p:sp>
        <p:nvSpPr>
          <p:cNvPr id="5" name="Text 3"/>
          <p:cNvSpPr txBox="1"/>
          <p:nvPr/>
        </p:nvSpPr>
        <p:spPr>
          <a:xfrm>
            <a:off x="548640" y="1874520"/>
            <a:ext cx="548640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Regional Impact Pattern (Illustrative)</a:t>
            </a:r>
            <a:endParaRPr lang="en-US" sz="1300" dirty="0"/>
          </a:p>
        </p:txBody>
      </p:sp>
      <p:sp>
        <p:nvSpPr>
          <p:cNvPr id="6" name="Text 4"/>
          <p:cNvSpPr txBox="1"/>
          <p:nvPr/>
        </p:nvSpPr>
        <p:spPr>
          <a:xfrm>
            <a:off x="1508760" y="2395728"/>
            <a:ext cx="960120" cy="292608"/>
          </a:xfrm>
          <a:prstGeom prst="rect">
            <a:avLst/>
          </a:prstGeom>
          <a:noFill/>
          <a:ln/>
        </p:spPr>
        <p:txBody>
          <a:bodyPr wrap="square" lIns="0" tIns="0" rIns="0" bIns="0" rtlCol="0" anchor="ctr"/>
          <a:lstStyle/>
          <a:p>
            <a:pPr algn="ctr" indent="0" marL="0">
              <a:buNone/>
            </a:pPr>
            <a:r>
              <a:rPr lang="en-US" sz="900" b="1" dirty="0">
                <a:solidFill>
                  <a:srgbClr val="D6DFEA"/>
                </a:solidFill>
                <a:latin typeface="Calibri" pitchFamily="34" charset="0"/>
                <a:ea typeface="Calibri" pitchFamily="34" charset="-122"/>
                <a:cs typeface="Calibri" pitchFamily="34" charset="-120"/>
              </a:rPr>
              <a:t>Pre-Lockdown</a:t>
            </a:r>
            <a:endParaRPr lang="en-US" sz="900" dirty="0"/>
          </a:p>
        </p:txBody>
      </p:sp>
      <p:sp>
        <p:nvSpPr>
          <p:cNvPr id="7" name="Text 5"/>
          <p:cNvSpPr txBox="1"/>
          <p:nvPr/>
        </p:nvSpPr>
        <p:spPr>
          <a:xfrm>
            <a:off x="2523744" y="2395728"/>
            <a:ext cx="960120" cy="292608"/>
          </a:xfrm>
          <a:prstGeom prst="rect">
            <a:avLst/>
          </a:prstGeom>
          <a:noFill/>
          <a:ln/>
        </p:spPr>
        <p:txBody>
          <a:bodyPr wrap="square" lIns="0" tIns="0" rIns="0" bIns="0" rtlCol="0" anchor="ctr"/>
          <a:lstStyle/>
          <a:p>
            <a:pPr algn="ctr" indent="0" marL="0">
              <a:buNone/>
            </a:pPr>
            <a:r>
              <a:rPr lang="en-US" sz="900" b="1" dirty="0">
                <a:solidFill>
                  <a:srgbClr val="D6DFEA"/>
                </a:solidFill>
                <a:latin typeface="Calibri" pitchFamily="34" charset="0"/>
                <a:ea typeface="Calibri" pitchFamily="34" charset="-122"/>
                <a:cs typeface="Calibri" pitchFamily="34" charset="-120"/>
              </a:rPr>
              <a:t>Peak Lockdown</a:t>
            </a:r>
            <a:endParaRPr lang="en-US" sz="900" dirty="0"/>
          </a:p>
        </p:txBody>
      </p:sp>
      <p:sp>
        <p:nvSpPr>
          <p:cNvPr id="8" name="Text 6"/>
          <p:cNvSpPr txBox="1"/>
          <p:nvPr/>
        </p:nvSpPr>
        <p:spPr>
          <a:xfrm>
            <a:off x="3538728" y="2395728"/>
            <a:ext cx="960120" cy="292608"/>
          </a:xfrm>
          <a:prstGeom prst="rect">
            <a:avLst/>
          </a:prstGeom>
          <a:noFill/>
          <a:ln/>
        </p:spPr>
        <p:txBody>
          <a:bodyPr wrap="square" lIns="0" tIns="0" rIns="0" bIns="0" rtlCol="0" anchor="ctr"/>
          <a:lstStyle/>
          <a:p>
            <a:pPr algn="ctr" indent="0" marL="0">
              <a:buNone/>
            </a:pPr>
            <a:r>
              <a:rPr lang="en-US" sz="900" b="1" dirty="0">
                <a:solidFill>
                  <a:srgbClr val="D6DFEA"/>
                </a:solidFill>
                <a:latin typeface="Calibri" pitchFamily="34" charset="0"/>
                <a:ea typeface="Calibri" pitchFamily="34" charset="-122"/>
                <a:cs typeface="Calibri" pitchFamily="34" charset="-120"/>
              </a:rPr>
              <a:t>Recovery</a:t>
            </a:r>
            <a:endParaRPr lang="en-US" sz="900" dirty="0"/>
          </a:p>
        </p:txBody>
      </p:sp>
      <p:sp>
        <p:nvSpPr>
          <p:cNvPr id="9" name="Text 7"/>
          <p:cNvSpPr txBox="1"/>
          <p:nvPr/>
        </p:nvSpPr>
        <p:spPr>
          <a:xfrm>
            <a:off x="548640" y="2743200"/>
            <a:ext cx="868680" cy="502920"/>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Region A</a:t>
            </a:r>
            <a:endParaRPr lang="en-US" sz="1050" dirty="0"/>
          </a:p>
        </p:txBody>
      </p:sp>
      <p:sp>
        <p:nvSpPr>
          <p:cNvPr id="10" name="Shape 8"/>
          <p:cNvSpPr/>
          <p:nvPr/>
        </p:nvSpPr>
        <p:spPr>
          <a:xfrm>
            <a:off x="1508760" y="2743200"/>
            <a:ext cx="960120" cy="502920"/>
          </a:xfrm>
          <a:prstGeom prst="roundRect">
            <a:avLst>
              <a:gd name="adj" fmla="val 7273"/>
            </a:avLst>
          </a:prstGeom>
          <a:solidFill>
            <a:srgbClr val="54966E"/>
          </a:solidFill>
          <a:ln w="12700">
            <a:solidFill>
              <a:srgbClr val="1C2B45"/>
            </a:solidFill>
            <a:prstDash val="solid"/>
          </a:ln>
        </p:spPr>
      </p:sp>
      <p:sp>
        <p:nvSpPr>
          <p:cNvPr id="11" name="Shape 9"/>
          <p:cNvSpPr/>
          <p:nvPr/>
        </p:nvSpPr>
        <p:spPr>
          <a:xfrm>
            <a:off x="2523744" y="2743200"/>
            <a:ext cx="960120" cy="502920"/>
          </a:xfrm>
          <a:prstGeom prst="roundRect">
            <a:avLst>
              <a:gd name="adj" fmla="val 7273"/>
            </a:avLst>
          </a:prstGeom>
          <a:solidFill>
            <a:srgbClr val="D7862B"/>
          </a:solidFill>
          <a:ln w="12700">
            <a:solidFill>
              <a:srgbClr val="1C2B45"/>
            </a:solidFill>
            <a:prstDash val="solid"/>
          </a:ln>
        </p:spPr>
      </p:sp>
      <p:sp>
        <p:nvSpPr>
          <p:cNvPr id="12" name="Shape 10"/>
          <p:cNvSpPr/>
          <p:nvPr/>
        </p:nvSpPr>
        <p:spPr>
          <a:xfrm>
            <a:off x="3538728" y="2743200"/>
            <a:ext cx="960120" cy="502920"/>
          </a:xfrm>
          <a:prstGeom prst="roundRect">
            <a:avLst>
              <a:gd name="adj" fmla="val 7273"/>
            </a:avLst>
          </a:prstGeom>
          <a:solidFill>
            <a:srgbClr val="8D9251"/>
          </a:solidFill>
          <a:ln w="12700">
            <a:solidFill>
              <a:srgbClr val="1C2B45"/>
            </a:solidFill>
            <a:prstDash val="solid"/>
          </a:ln>
        </p:spPr>
      </p:sp>
      <p:sp>
        <p:nvSpPr>
          <p:cNvPr id="13" name="Text 11"/>
          <p:cNvSpPr txBox="1"/>
          <p:nvPr/>
        </p:nvSpPr>
        <p:spPr>
          <a:xfrm>
            <a:off x="548640" y="3300984"/>
            <a:ext cx="868680" cy="502920"/>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Region B</a:t>
            </a:r>
            <a:endParaRPr lang="en-US" sz="1050" dirty="0"/>
          </a:p>
        </p:txBody>
      </p:sp>
      <p:sp>
        <p:nvSpPr>
          <p:cNvPr id="14" name="Shape 12"/>
          <p:cNvSpPr/>
          <p:nvPr/>
        </p:nvSpPr>
        <p:spPr>
          <a:xfrm>
            <a:off x="1508760" y="3300984"/>
            <a:ext cx="960120" cy="502920"/>
          </a:xfrm>
          <a:prstGeom prst="roundRect">
            <a:avLst>
              <a:gd name="adj" fmla="val 7273"/>
            </a:avLst>
          </a:prstGeom>
          <a:solidFill>
            <a:srgbClr val="679565"/>
          </a:solidFill>
          <a:ln w="12700">
            <a:solidFill>
              <a:srgbClr val="1C2B45"/>
            </a:solidFill>
            <a:prstDash val="solid"/>
          </a:ln>
        </p:spPr>
      </p:sp>
      <p:sp>
        <p:nvSpPr>
          <p:cNvPr id="15" name="Shape 13"/>
          <p:cNvSpPr/>
          <p:nvPr/>
        </p:nvSpPr>
        <p:spPr>
          <a:xfrm>
            <a:off x="2523744" y="3300984"/>
            <a:ext cx="960120" cy="502920"/>
          </a:xfrm>
          <a:prstGeom prst="roundRect">
            <a:avLst>
              <a:gd name="adj" fmla="val 7273"/>
            </a:avLst>
          </a:prstGeom>
          <a:solidFill>
            <a:srgbClr val="C3422B"/>
          </a:solidFill>
          <a:ln w="12700">
            <a:solidFill>
              <a:srgbClr val="1C2B45"/>
            </a:solidFill>
            <a:prstDash val="solid"/>
          </a:ln>
        </p:spPr>
      </p:sp>
      <p:sp>
        <p:nvSpPr>
          <p:cNvPr id="16" name="Shape 14"/>
          <p:cNvSpPr/>
          <p:nvPr/>
        </p:nvSpPr>
        <p:spPr>
          <a:xfrm>
            <a:off x="3538728" y="3300984"/>
            <a:ext cx="960120" cy="502920"/>
          </a:xfrm>
          <a:prstGeom prst="roundRect">
            <a:avLst>
              <a:gd name="adj" fmla="val 7273"/>
            </a:avLst>
          </a:prstGeom>
          <a:solidFill>
            <a:srgbClr val="CF6C2B"/>
          </a:solidFill>
          <a:ln w="12700">
            <a:solidFill>
              <a:srgbClr val="1C2B45"/>
            </a:solidFill>
            <a:prstDash val="solid"/>
          </a:ln>
        </p:spPr>
      </p:sp>
      <p:sp>
        <p:nvSpPr>
          <p:cNvPr id="17" name="Text 15"/>
          <p:cNvSpPr txBox="1"/>
          <p:nvPr/>
        </p:nvSpPr>
        <p:spPr>
          <a:xfrm>
            <a:off x="548640" y="3858768"/>
            <a:ext cx="868680" cy="502920"/>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Region C</a:t>
            </a:r>
            <a:endParaRPr lang="en-US" sz="1050" dirty="0"/>
          </a:p>
        </p:txBody>
      </p:sp>
      <p:sp>
        <p:nvSpPr>
          <p:cNvPr id="18" name="Shape 16"/>
          <p:cNvSpPr/>
          <p:nvPr/>
        </p:nvSpPr>
        <p:spPr>
          <a:xfrm>
            <a:off x="1508760" y="3858768"/>
            <a:ext cx="960120" cy="502920"/>
          </a:xfrm>
          <a:prstGeom prst="roundRect">
            <a:avLst>
              <a:gd name="adj" fmla="val 7273"/>
            </a:avLst>
          </a:prstGeom>
          <a:solidFill>
            <a:srgbClr val="419778"/>
          </a:solidFill>
          <a:ln w="12700">
            <a:solidFill>
              <a:srgbClr val="1C2B45"/>
            </a:solidFill>
            <a:prstDash val="solid"/>
          </a:ln>
        </p:spPr>
      </p:sp>
      <p:sp>
        <p:nvSpPr>
          <p:cNvPr id="19" name="Shape 17"/>
          <p:cNvSpPr/>
          <p:nvPr/>
        </p:nvSpPr>
        <p:spPr>
          <a:xfrm>
            <a:off x="2523744" y="3858768"/>
            <a:ext cx="960120" cy="502920"/>
          </a:xfrm>
          <a:prstGeom prst="roundRect">
            <a:avLst>
              <a:gd name="adj" fmla="val 7273"/>
            </a:avLst>
          </a:prstGeom>
          <a:solidFill>
            <a:srgbClr val="C8532B"/>
          </a:solidFill>
          <a:ln w="12700">
            <a:solidFill>
              <a:srgbClr val="1C2B45"/>
            </a:solidFill>
            <a:prstDash val="solid"/>
          </a:ln>
        </p:spPr>
      </p:sp>
      <p:sp>
        <p:nvSpPr>
          <p:cNvPr id="20" name="Shape 18"/>
          <p:cNvSpPr/>
          <p:nvPr/>
        </p:nvSpPr>
        <p:spPr>
          <a:xfrm>
            <a:off x="3538728" y="3858768"/>
            <a:ext cx="960120" cy="502920"/>
          </a:xfrm>
          <a:prstGeom prst="roundRect">
            <a:avLst>
              <a:gd name="adj" fmla="val 7273"/>
            </a:avLst>
          </a:prstGeom>
          <a:solidFill>
            <a:srgbClr val="679565"/>
          </a:solidFill>
          <a:ln w="12700">
            <a:solidFill>
              <a:srgbClr val="1C2B45"/>
            </a:solidFill>
            <a:prstDash val="solid"/>
          </a:ln>
        </p:spPr>
      </p:sp>
      <p:sp>
        <p:nvSpPr>
          <p:cNvPr id="21" name="Text 19"/>
          <p:cNvSpPr txBox="1"/>
          <p:nvPr/>
        </p:nvSpPr>
        <p:spPr>
          <a:xfrm>
            <a:off x="548640" y="4416552"/>
            <a:ext cx="868680" cy="502920"/>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Region D</a:t>
            </a:r>
            <a:endParaRPr lang="en-US" sz="1050" dirty="0"/>
          </a:p>
        </p:txBody>
      </p:sp>
      <p:sp>
        <p:nvSpPr>
          <p:cNvPr id="22" name="Shape 20"/>
          <p:cNvSpPr/>
          <p:nvPr/>
        </p:nvSpPr>
        <p:spPr>
          <a:xfrm>
            <a:off x="1508760" y="4416552"/>
            <a:ext cx="960120" cy="502920"/>
          </a:xfrm>
          <a:prstGeom prst="roundRect">
            <a:avLst>
              <a:gd name="adj" fmla="val 7273"/>
            </a:avLst>
          </a:prstGeom>
          <a:solidFill>
            <a:srgbClr val="7A945B"/>
          </a:solidFill>
          <a:ln w="12700">
            <a:solidFill>
              <a:srgbClr val="1C2B45"/>
            </a:solidFill>
            <a:prstDash val="solid"/>
          </a:ln>
        </p:spPr>
      </p:sp>
      <p:sp>
        <p:nvSpPr>
          <p:cNvPr id="23" name="Shape 21"/>
          <p:cNvSpPr/>
          <p:nvPr/>
        </p:nvSpPr>
        <p:spPr>
          <a:xfrm>
            <a:off x="2523744" y="4416552"/>
            <a:ext cx="960120" cy="502920"/>
          </a:xfrm>
          <a:prstGeom prst="roundRect">
            <a:avLst>
              <a:gd name="adj" fmla="val 7273"/>
            </a:avLst>
          </a:prstGeom>
          <a:solidFill>
            <a:srgbClr val="D47D2B"/>
          </a:solidFill>
          <a:ln w="12700">
            <a:solidFill>
              <a:srgbClr val="1C2B45"/>
            </a:solidFill>
            <a:prstDash val="solid"/>
          </a:ln>
        </p:spPr>
      </p:sp>
      <p:sp>
        <p:nvSpPr>
          <p:cNvPr id="24" name="Shape 22"/>
          <p:cNvSpPr/>
          <p:nvPr/>
        </p:nvSpPr>
        <p:spPr>
          <a:xfrm>
            <a:off x="3538728" y="4416552"/>
            <a:ext cx="960120" cy="502920"/>
          </a:xfrm>
          <a:prstGeom prst="roundRect">
            <a:avLst>
              <a:gd name="adj" fmla="val 7273"/>
            </a:avLst>
          </a:prstGeom>
          <a:solidFill>
            <a:srgbClr val="D7862B"/>
          </a:solidFill>
          <a:ln w="12700">
            <a:solidFill>
              <a:srgbClr val="1C2B45"/>
            </a:solidFill>
            <a:prstDash val="solid"/>
          </a:ln>
        </p:spPr>
      </p:sp>
      <p:sp>
        <p:nvSpPr>
          <p:cNvPr id="25" name="Text 23"/>
          <p:cNvSpPr txBox="1"/>
          <p:nvPr/>
        </p:nvSpPr>
        <p:spPr>
          <a:xfrm>
            <a:off x="548640" y="5111496"/>
            <a:ext cx="5760720" cy="365760"/>
          </a:xfrm>
          <a:prstGeom prst="rect">
            <a:avLst/>
          </a:prstGeom>
          <a:noFill/>
          <a:ln/>
        </p:spPr>
        <p:txBody>
          <a:bodyPr wrap="square" lIns="0" tIns="0" rIns="0" bIns="0" rtlCol="0" anchor="ctr"/>
          <a:lstStyle/>
          <a:p>
            <a:pPr indent="0" marL="0">
              <a:buNone/>
            </a:pPr>
            <a:r>
              <a:rPr lang="en-US" sz="950" i="1" dirty="0">
                <a:solidFill>
                  <a:srgbClr val="D6DFEA"/>
                </a:solidFill>
                <a:latin typeface="Calibri" pitchFamily="34" charset="0"/>
                <a:ea typeface="Calibri" pitchFamily="34" charset="-122"/>
                <a:cs typeface="Calibri" pitchFamily="34" charset="-120"/>
              </a:rPr>
              <a:t>Darker red = sharper unemployment spike  •  Teal = steadier, more resilient workforce</a:t>
            </a:r>
            <a:endParaRPr lang="en-US" sz="950" dirty="0"/>
          </a:p>
        </p:txBody>
      </p:sp>
      <p:sp>
        <p:nvSpPr>
          <p:cNvPr id="26" name="Shape 24"/>
          <p:cNvSpPr/>
          <p:nvPr/>
        </p:nvSpPr>
        <p:spPr>
          <a:xfrm>
            <a:off x="6720840" y="2423160"/>
            <a:ext cx="4937760" cy="1170432"/>
          </a:xfrm>
          <a:prstGeom prst="roundRect">
            <a:avLst>
              <a:gd name="adj" fmla="val 6250"/>
            </a:avLst>
          </a:prstGeom>
          <a:solidFill>
            <a:srgbClr val="2F4364"/>
          </a:solidFill>
          <a:ln w="12700">
            <a:solidFill>
              <a:srgbClr val="2F4364"/>
            </a:solidFill>
            <a:prstDash val="solid"/>
          </a:ln>
        </p:spPr>
      </p:sp>
      <p:sp>
        <p:nvSpPr>
          <p:cNvPr id="27" name="Text 25"/>
          <p:cNvSpPr txBox="1"/>
          <p:nvPr/>
        </p:nvSpPr>
        <p:spPr>
          <a:xfrm>
            <a:off x="6976872" y="2532888"/>
            <a:ext cx="4480560" cy="457200"/>
          </a:xfrm>
          <a:prstGeom prst="rect">
            <a:avLst/>
          </a:prstGeom>
          <a:noFill/>
          <a:ln/>
        </p:spPr>
        <p:txBody>
          <a:bodyPr wrap="square" lIns="0" tIns="0" rIns="0" bIns="0" rtlCol="0" anchor="ctr"/>
          <a:lstStyle/>
          <a:p>
            <a:pPr indent="0" marL="0">
              <a:buNone/>
            </a:pPr>
            <a:r>
              <a:rPr lang="en-US" sz="1900" b="1" dirty="0">
                <a:solidFill>
                  <a:srgbClr val="D98E2B"/>
                </a:solidFill>
                <a:latin typeface="Cambria" pitchFamily="34" charset="0"/>
                <a:ea typeface="Cambria" pitchFamily="34" charset="-122"/>
                <a:cs typeface="Cambria" pitchFamily="34" charset="-120"/>
              </a:rPr>
              <a:t>Apr–May 2020</a:t>
            </a:r>
            <a:endParaRPr lang="en-US" sz="1900" dirty="0"/>
          </a:p>
        </p:txBody>
      </p:sp>
      <p:sp>
        <p:nvSpPr>
          <p:cNvPr id="28" name="Text 26"/>
          <p:cNvSpPr txBox="1"/>
          <p:nvPr/>
        </p:nvSpPr>
        <p:spPr>
          <a:xfrm>
            <a:off x="6976872" y="3044952"/>
            <a:ext cx="4480560" cy="548640"/>
          </a:xfrm>
          <a:prstGeom prst="rect">
            <a:avLst/>
          </a:prstGeom>
          <a:noFill/>
          <a:ln/>
        </p:spPr>
        <p:txBody>
          <a:bodyPr wrap="square" lIns="0" tIns="0" rIns="0" bIns="0" rtlCol="0" anchor="t"/>
          <a:lstStyle/>
          <a:p>
            <a:pPr indent="0" marL="0">
              <a:buNone/>
            </a:pPr>
            <a:r>
              <a:rPr lang="en-US" sz="1150" dirty="0">
                <a:solidFill>
                  <a:srgbClr val="FFFFFF"/>
                </a:solidFill>
                <a:latin typeface="Calibri" pitchFamily="34" charset="0"/>
                <a:ea typeface="Calibri" pitchFamily="34" charset="-122"/>
                <a:cs typeface="Calibri" pitchFamily="34" charset="-120"/>
              </a:rPr>
              <a:t>Peak lockdown window — unemployment spiked sharply across nearly all regions</a:t>
            </a:r>
            <a:endParaRPr lang="en-US" sz="1150" dirty="0"/>
          </a:p>
        </p:txBody>
      </p:sp>
      <p:sp>
        <p:nvSpPr>
          <p:cNvPr id="29" name="Shape 27"/>
          <p:cNvSpPr/>
          <p:nvPr/>
        </p:nvSpPr>
        <p:spPr>
          <a:xfrm>
            <a:off x="6720840" y="3739896"/>
            <a:ext cx="4937760" cy="1170432"/>
          </a:xfrm>
          <a:prstGeom prst="roundRect">
            <a:avLst>
              <a:gd name="adj" fmla="val 6250"/>
            </a:avLst>
          </a:prstGeom>
          <a:solidFill>
            <a:srgbClr val="2F4364"/>
          </a:solidFill>
          <a:ln w="12700">
            <a:solidFill>
              <a:srgbClr val="2F4364"/>
            </a:solidFill>
            <a:prstDash val="solid"/>
          </a:ln>
        </p:spPr>
      </p:sp>
      <p:sp>
        <p:nvSpPr>
          <p:cNvPr id="30" name="Text 28"/>
          <p:cNvSpPr txBox="1"/>
          <p:nvPr/>
        </p:nvSpPr>
        <p:spPr>
          <a:xfrm>
            <a:off x="6976872" y="3849624"/>
            <a:ext cx="4480560" cy="457200"/>
          </a:xfrm>
          <a:prstGeom prst="rect">
            <a:avLst/>
          </a:prstGeom>
          <a:noFill/>
          <a:ln/>
        </p:spPr>
        <p:txBody>
          <a:bodyPr wrap="square" lIns="0" tIns="0" rIns="0" bIns="0" rtlCol="0" anchor="ctr"/>
          <a:lstStyle/>
          <a:p>
            <a:pPr indent="0" marL="0">
              <a:buNone/>
            </a:pPr>
            <a:r>
              <a:rPr lang="en-US" sz="1900" b="1" dirty="0">
                <a:solidFill>
                  <a:srgbClr val="D98E2B"/>
                </a:solidFill>
                <a:latin typeface="Cambria" pitchFamily="34" charset="0"/>
                <a:ea typeface="Cambria" pitchFamily="34" charset="-122"/>
                <a:cs typeface="Cambria" pitchFamily="34" charset="-120"/>
              </a:rPr>
              <a:t>Urban &gt; Rural</a:t>
            </a:r>
            <a:endParaRPr lang="en-US" sz="1900" dirty="0"/>
          </a:p>
        </p:txBody>
      </p:sp>
      <p:sp>
        <p:nvSpPr>
          <p:cNvPr id="31" name="Text 29"/>
          <p:cNvSpPr txBox="1"/>
          <p:nvPr/>
        </p:nvSpPr>
        <p:spPr>
          <a:xfrm>
            <a:off x="6976872" y="4361688"/>
            <a:ext cx="4480560" cy="548640"/>
          </a:xfrm>
          <a:prstGeom prst="rect">
            <a:avLst/>
          </a:prstGeom>
          <a:noFill/>
          <a:ln/>
        </p:spPr>
        <p:txBody>
          <a:bodyPr wrap="square" lIns="0" tIns="0" rIns="0" bIns="0" rtlCol="0" anchor="t"/>
          <a:lstStyle/>
          <a:p>
            <a:pPr indent="0" marL="0">
              <a:buNone/>
            </a:pPr>
            <a:r>
              <a:rPr lang="en-US" sz="1150" dirty="0">
                <a:solidFill>
                  <a:srgbClr val="FFFFFF"/>
                </a:solidFill>
                <a:latin typeface="Calibri" pitchFamily="34" charset="0"/>
                <a:ea typeface="Calibri" pitchFamily="34" charset="-122"/>
                <a:cs typeface="Calibri" pitchFamily="34" charset="-120"/>
              </a:rPr>
              <a:t>Urban labor markets fell faster, driven by service-sector closures</a:t>
            </a:r>
            <a:endParaRPr lang="en-US" sz="1150" dirty="0"/>
          </a:p>
        </p:txBody>
      </p:sp>
      <p:sp>
        <p:nvSpPr>
          <p:cNvPr id="32" name="Shape 30"/>
          <p:cNvSpPr/>
          <p:nvPr/>
        </p:nvSpPr>
        <p:spPr>
          <a:xfrm>
            <a:off x="6720840" y="5056632"/>
            <a:ext cx="4937760" cy="1170432"/>
          </a:xfrm>
          <a:prstGeom prst="roundRect">
            <a:avLst>
              <a:gd name="adj" fmla="val 6250"/>
            </a:avLst>
          </a:prstGeom>
          <a:solidFill>
            <a:srgbClr val="2F4364"/>
          </a:solidFill>
          <a:ln w="12700">
            <a:solidFill>
              <a:srgbClr val="2F4364"/>
            </a:solidFill>
            <a:prstDash val="solid"/>
          </a:ln>
        </p:spPr>
      </p:sp>
      <p:sp>
        <p:nvSpPr>
          <p:cNvPr id="33" name="Text 31"/>
          <p:cNvSpPr txBox="1"/>
          <p:nvPr/>
        </p:nvSpPr>
        <p:spPr>
          <a:xfrm>
            <a:off x="6976872" y="5166360"/>
            <a:ext cx="4480560" cy="457200"/>
          </a:xfrm>
          <a:prstGeom prst="rect">
            <a:avLst/>
          </a:prstGeom>
          <a:noFill/>
          <a:ln/>
        </p:spPr>
        <p:txBody>
          <a:bodyPr wrap="square" lIns="0" tIns="0" rIns="0" bIns="0" rtlCol="0" anchor="ctr"/>
          <a:lstStyle/>
          <a:p>
            <a:pPr indent="0" marL="0">
              <a:buNone/>
            </a:pPr>
            <a:r>
              <a:rPr lang="en-US" sz="1900" b="1" dirty="0">
                <a:solidFill>
                  <a:srgbClr val="D98E2B"/>
                </a:solidFill>
                <a:latin typeface="Cambria" pitchFamily="34" charset="0"/>
                <a:ea typeface="Cambria" pitchFamily="34" charset="-122"/>
                <a:cs typeface="Cambria" pitchFamily="34" charset="-120"/>
              </a:rPr>
              <a:t>Mixed Recovery</a:t>
            </a:r>
            <a:endParaRPr lang="en-US" sz="1900" dirty="0"/>
          </a:p>
        </p:txBody>
      </p:sp>
      <p:sp>
        <p:nvSpPr>
          <p:cNvPr id="34" name="Text 32"/>
          <p:cNvSpPr txBox="1"/>
          <p:nvPr/>
        </p:nvSpPr>
        <p:spPr>
          <a:xfrm>
            <a:off x="6976872" y="5678424"/>
            <a:ext cx="4480560" cy="548640"/>
          </a:xfrm>
          <a:prstGeom prst="rect">
            <a:avLst/>
          </a:prstGeom>
          <a:noFill/>
          <a:ln/>
        </p:spPr>
        <p:txBody>
          <a:bodyPr wrap="square" lIns="0" tIns="0" rIns="0" bIns="0" rtlCol="0" anchor="t"/>
          <a:lstStyle/>
          <a:p>
            <a:pPr indent="0" marL="0">
              <a:buNone/>
            </a:pPr>
            <a:r>
              <a:rPr lang="en-US" sz="1150" dirty="0">
                <a:solidFill>
                  <a:srgbClr val="FFFFFF"/>
                </a:solidFill>
                <a:latin typeface="Calibri" pitchFamily="34" charset="0"/>
                <a:ea typeface="Calibri" pitchFamily="34" charset="-122"/>
                <a:cs typeface="Calibri" pitchFamily="34" charset="-120"/>
              </a:rPr>
              <a:t>Some regions rebounded quickly; others faced prolonged high unemployment</a:t>
            </a:r>
            <a:endParaRPr lang="en-US" sz="1150" dirty="0"/>
          </a:p>
        </p:txBody>
      </p:sp>
      <p:sp>
        <p:nvSpPr>
          <p:cNvPr id="35" name="Text 33"/>
          <p:cNvSpPr txBox="1"/>
          <p:nvPr/>
        </p:nvSpPr>
        <p:spPr>
          <a:xfrm>
            <a:off x="548640" y="6263640"/>
            <a:ext cx="11064240" cy="457200"/>
          </a:xfrm>
          <a:prstGeom prst="rect">
            <a:avLst/>
          </a:prstGeom>
          <a:noFill/>
          <a:ln/>
        </p:spPr>
        <p:txBody>
          <a:bodyPr wrap="square" lIns="0" tIns="0" rIns="0" bIns="0" rtlCol="0" anchor="t"/>
          <a:lstStyle/>
          <a:p>
            <a:pPr indent="0" marL="0">
              <a:buNone/>
            </a:pPr>
            <a:r>
              <a:rPr lang="en-US" sz="1350" b="1" dirty="0">
                <a:solidFill>
                  <a:srgbClr val="D98E2B"/>
                </a:solidFill>
                <a:latin typeface="Calibri" pitchFamily="34" charset="0"/>
                <a:ea typeface="Calibri" pitchFamily="34" charset="-122"/>
                <a:cs typeface="Calibri" pitchFamily="34" charset="-120"/>
              </a:rPr>
              <a:t>Conclusion:  </a:t>
            </a:r>
            <a:pPr indent="0" marL="0">
              <a:buNone/>
            </a:pPr>
            <a:r>
              <a:rPr lang="en-US" sz="1350" dirty="0">
                <a:solidFill>
                  <a:srgbClr val="FFFFFF"/>
                </a:solidFill>
                <a:latin typeface="Calibri" pitchFamily="34" charset="0"/>
                <a:ea typeface="Calibri" pitchFamily="34" charset="-122"/>
                <a:cs typeface="Calibri" pitchFamily="34" charset="-120"/>
              </a:rPr>
              <a:t>the lockdown shock was severe but not uniform — regional resilience mattered as much as the crisis itself.</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2026-09-08T20:14:56Z</dcterms:created>
  <dcterms:modified xsi:type="dcterms:W3CDTF">2026-09-08T20:14:56Z</dcterms:modified>
</cp:coreProperties>
</file>